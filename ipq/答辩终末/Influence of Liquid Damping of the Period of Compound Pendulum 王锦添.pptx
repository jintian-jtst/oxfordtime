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400" r:id="rId3"/>
    <p:sldId id="472" r:id="rId4"/>
    <p:sldId id="480" r:id="rId5"/>
    <p:sldId id="473" r:id="rId6"/>
    <p:sldId id="474" r:id="rId7"/>
    <p:sldId id="468" r:id="rId8"/>
    <p:sldId id="471" r:id="rId9"/>
    <p:sldId id="477" r:id="rId10"/>
    <p:sldId id="481" r:id="rId11"/>
    <p:sldId id="482" r:id="rId12"/>
    <p:sldId id="483" r:id="rId13"/>
    <p:sldId id="486" r:id="rId14"/>
    <p:sldId id="500" r:id="rId15"/>
    <p:sldId id="488" r:id="rId16"/>
    <p:sldId id="489" r:id="rId17"/>
    <p:sldId id="501" r:id="rId18"/>
    <p:sldId id="495" r:id="rId19"/>
    <p:sldId id="490" r:id="rId20"/>
    <p:sldId id="491" r:id="rId21"/>
    <p:sldId id="492" r:id="rId22"/>
    <p:sldId id="493" r:id="rId23"/>
    <p:sldId id="494" r:id="rId24"/>
    <p:sldId id="496" r:id="rId25"/>
    <p:sldId id="497" r:id="rId26"/>
    <p:sldId id="498" r:id="rId27"/>
    <p:sldId id="484" r:id="rId28"/>
    <p:sldId id="485" r:id="rId29"/>
    <p:sldId id="499" r:id="rId30"/>
    <p:sldId id="478" r:id="rId31"/>
    <p:sldId id="305" r:id="rId32"/>
  </p:sldIdLst>
  <p:sldSz cx="9144000" cy="5719763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7">
          <p15:clr>
            <a:srgbClr val="A4A3A4"/>
          </p15:clr>
        </p15:guide>
        <p15:guide id="2" pos="3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D14"/>
    <a:srgbClr val="C46A32"/>
    <a:srgbClr val="D77D0F"/>
    <a:srgbClr val="A02225"/>
    <a:srgbClr val="FF9999"/>
    <a:srgbClr val="AE0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385" autoAdjust="0"/>
  </p:normalViewPr>
  <p:slideViewPr>
    <p:cSldViewPr showGuides="1">
      <p:cViewPr varScale="1">
        <p:scale>
          <a:sx n="82" d="100"/>
          <a:sy n="82" d="100"/>
        </p:scale>
        <p:origin x="1080" y="78"/>
      </p:cViewPr>
      <p:guideLst>
        <p:guide orient="horz" pos="1167"/>
        <p:guide pos="3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2D1ED-119A-46AE-B331-371B8B86FCFF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52C0E-53D7-4104-A0E7-5E833EABB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929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5458E-FF70-4365-837E-3ABB2A84A1C6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1436" y="746125"/>
            <a:ext cx="595829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64A68-3F8A-412F-A893-E4679BC1FB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34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664A68-3F8A-412F-A893-E4679BC1FB2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450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664A68-3F8A-412F-A893-E4679BC1FB2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482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586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095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200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585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894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576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436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389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750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375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939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875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773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1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9B610-238B-4C94-911B-38D30741D0CB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" name="图片 1" descr="光华剑桥PPT三个尺寸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"/>
            <a:ext cx="9142730" cy="57194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7314"/>
            <a:ext cx="7772400" cy="122637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42075"/>
            <a:ext cx="6400800" cy="1462112"/>
          </a:xfrm>
        </p:spPr>
        <p:txBody>
          <a:bodyPr/>
          <a:lstStyle>
            <a:lvl1pPr marL="0" indent="0" algn="ctr">
              <a:buNone/>
              <a:defRPr/>
            </a:lvl1pPr>
            <a:lvl2pPr marL="381000" indent="0" algn="ctr">
              <a:buNone/>
              <a:defRPr/>
            </a:lvl2pPr>
            <a:lvl3pPr marL="762635" indent="0" algn="ctr">
              <a:buNone/>
              <a:defRPr/>
            </a:lvl3pPr>
            <a:lvl4pPr marL="1143635" indent="0" algn="ctr">
              <a:buNone/>
              <a:defRPr/>
            </a:lvl4pPr>
            <a:lvl5pPr marL="1525270" indent="0" algn="ctr">
              <a:buNone/>
              <a:defRPr/>
            </a:lvl5pPr>
            <a:lvl6pPr marL="1906270" indent="0" algn="ctr">
              <a:buNone/>
              <a:defRPr/>
            </a:lvl6pPr>
            <a:lvl7pPr marL="2288540" indent="0" algn="ctr">
              <a:buNone/>
              <a:defRPr/>
            </a:lvl7pPr>
            <a:lvl8pPr marL="2670175" indent="0" algn="ctr">
              <a:buNone/>
              <a:defRPr/>
            </a:lvl8pPr>
            <a:lvl9pPr marL="3051175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2F86B5-A254-4ED8-8F23-AF61DDD39B0C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2" name="图片 11" descr="光华剑桥PPT-改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635"/>
            <a:ext cx="9142730" cy="5719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B8E3A-BBB2-4A04-8574-9045E9090395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3" name="图片 2" descr="光华剑桥PPT三个尺寸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730" cy="571944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08561"/>
            <a:ext cx="8229600" cy="9535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43533"/>
            <a:ext cx="8229600" cy="26063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0"/>
            <a:r>
              <a:rPr lang="zh-CN" altLang="en-US"/>
              <a:t>第二级</a:t>
            </a:r>
          </a:p>
          <a:p>
            <a:pPr lvl="1"/>
            <a:r>
              <a:rPr lang="zh-CN" altLang="en-US"/>
              <a:t>第三级</a:t>
            </a:r>
          </a:p>
          <a:p>
            <a:pPr lvl="2"/>
            <a:r>
              <a:rPr lang="zh-CN" altLang="en-US"/>
              <a:t>第四级</a:t>
            </a:r>
          </a:p>
          <a:p>
            <a:pPr lvl="3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577047"/>
            <a:ext cx="2133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17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577047"/>
            <a:ext cx="2895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17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77000" y="4577047"/>
            <a:ext cx="2133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170"/>
            </a:lvl1pPr>
          </a:lstStyle>
          <a:p>
            <a:fld id="{53A26BEF-62AC-40AF-BE38-E9EC6678E3AC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367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9pPr>
    </p:titleStyle>
    <p:bodyStyle>
      <a:lvl1pPr marL="285750" indent="-285750" algn="l" rtl="0" fontAlgn="base">
        <a:spcBef>
          <a:spcPts val="80"/>
        </a:spcBef>
        <a:spcAft>
          <a:spcPct val="0"/>
        </a:spcAft>
        <a:buChar char="•"/>
        <a:defRPr sz="2670">
          <a:solidFill>
            <a:schemeClr val="tx1"/>
          </a:solidFill>
          <a:latin typeface="+mn-lt"/>
          <a:ea typeface="+mn-ea"/>
          <a:cs typeface="+mn-cs"/>
        </a:defRPr>
      </a:lvl1pPr>
      <a:lvl2pPr marL="619760" indent="-238760" algn="l" rtl="0" fontAlgn="base">
        <a:spcBef>
          <a:spcPts val="80"/>
        </a:spcBef>
        <a:spcAft>
          <a:spcPct val="0"/>
        </a:spcAft>
        <a:buChar char="–"/>
        <a:defRPr sz="2335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2pPr>
      <a:lvl3pPr marL="953135" indent="-190500" algn="l" rtl="0" fontAlgn="base">
        <a:spcBef>
          <a:spcPts val="8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334770" indent="-190500" algn="l" rtl="0" fontAlgn="base">
        <a:spcBef>
          <a:spcPts val="80"/>
        </a:spcBef>
        <a:spcAft>
          <a:spcPct val="0"/>
        </a:spcAft>
        <a:buChar char="–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171577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09804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6pPr>
      <a:lvl7pPr marL="247904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7pPr>
      <a:lvl8pPr marL="2860675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8pPr>
      <a:lvl9pPr marL="3241675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9pPr>
    </p:bodyStyle>
    <p:otherStyle>
      <a:defPPr>
        <a:defRPr lang="zh-CN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0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8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70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math.libretexts.org/Bookshelves/Calculus/Calculus_(OpenStax)/17%3A_Second-Order_Differential_Equations/17.01%3A_Second-Order_Linear_Equations#mjx-eqn-super" TargetMode="Externa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81000" y="1252406"/>
            <a:ext cx="7182000" cy="1007829"/>
          </a:xfr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120000"/>
              </a:lnSpc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Two Approximation Methods </a:t>
            </a:r>
            <a:r>
              <a:rPr lang="en-US" altLang="zh-CN" sz="3600" b="1" dirty="0">
                <a:solidFill>
                  <a:srgbClr val="FFFFFF"/>
                </a:solidFill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on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the Period of Compound Pendulum with Liquid Damping</a:t>
            </a:r>
            <a:endParaRPr lang="en-US" altLang="zh-CN" sz="3600" dirty="0">
              <a:solidFill>
                <a:schemeClr val="bg1"/>
              </a:solidFill>
              <a:latin typeface="+mn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5A8B63D-3E80-C6BB-128A-EF8DF8F84C54}"/>
              </a:ext>
            </a:extLst>
          </p:cNvPr>
          <p:cNvSpPr txBox="1">
            <a:spLocks noChangeArrowheads="1"/>
          </p:cNvSpPr>
          <p:nvPr/>
        </p:nvSpPr>
        <p:spPr>
          <a:xfrm>
            <a:off x="1548000" y="3507881"/>
            <a:ext cx="6264000" cy="1007829"/>
          </a:xfrm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7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Jintian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 Wang AS8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3188F398-9994-4AAE-F0F0-B8595E59DB09}"/>
              </a:ext>
            </a:extLst>
          </p:cNvPr>
          <p:cNvSpPr txBox="1"/>
          <p:nvPr/>
        </p:nvSpPr>
        <p:spPr>
          <a:xfrm>
            <a:off x="684000" y="299957"/>
            <a:ext cx="2088000" cy="4719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CONTENTS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17A79FF9-3783-3FEB-2734-A9685346DDAD}"/>
              </a:ext>
            </a:extLst>
          </p:cNvPr>
          <p:cNvSpPr txBox="1"/>
          <p:nvPr/>
        </p:nvSpPr>
        <p:spPr>
          <a:xfrm>
            <a:off x="756000" y="1707881"/>
            <a:ext cx="7632000" cy="2701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Introduction 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Adjustments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Work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Times New Roman" panose="02020603050405020304" pitchFamily="18" charset="0"/>
                <a:sym typeface="+mn-lt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D03356-B2AE-3F7B-9E29-11546EAA2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00" y="1275881"/>
            <a:ext cx="3024000" cy="4000744"/>
          </a:xfrm>
          <a:prstGeom prst="rect">
            <a:avLst/>
          </a:prstGeom>
        </p:spPr>
      </p:pic>
      <p:sp>
        <p:nvSpPr>
          <p:cNvPr id="6" name="TextBox 28">
            <a:extLst>
              <a:ext uri="{FF2B5EF4-FFF2-40B4-BE49-F238E27FC236}">
                <a16:creationId xmlns:a16="http://schemas.microsoft.com/office/drawing/2014/main" id="{F1576440-434B-FFF9-21F6-220C86B38999}"/>
              </a:ext>
            </a:extLst>
          </p:cNvPr>
          <p:cNvSpPr txBox="1"/>
          <p:nvPr/>
        </p:nvSpPr>
        <p:spPr>
          <a:xfrm>
            <a:off x="4068000" y="4363955"/>
            <a:ext cx="4248000" cy="485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Wingdings" panose="05000000000000000000" pitchFamily="2" charset="2"/>
              </a:rPr>
              <a:t>  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Compound Pendulum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76A3C-D4CA-E958-F0CB-5018366F83E8}"/>
              </a:ext>
            </a:extLst>
          </p:cNvPr>
          <p:cNvSpPr txBox="1"/>
          <p:nvPr/>
        </p:nvSpPr>
        <p:spPr>
          <a:xfrm>
            <a:off x="-972000" y="5113086"/>
            <a:ext cx="6336000" cy="3270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>
                <a:srgbClr val="C00000"/>
              </a:buClr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1.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17BE9F-B5E2-EC79-F54E-898EEAFDC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90" b="95082" l="9396" r="93960">
                        <a14:foregroundMark x1="45638" y1="26230" x2="64430" y2="62842"/>
                        <a14:foregroundMark x1="64430" y1="62842" x2="64430" y2="62842"/>
                        <a14:foregroundMark x1="73826" y1="34426" x2="46309" y2="25137"/>
                        <a14:foregroundMark x1="46309" y1="25137" x2="44966" y2="25137"/>
                        <a14:foregroundMark x1="31544" y1="22404" x2="28859" y2="38251"/>
                        <a14:foregroundMark x1="24832" y1="18033" x2="25503" y2="32787"/>
                        <a14:foregroundMark x1="22819" y1="25683" x2="48322" y2="66667"/>
                        <a14:foregroundMark x1="32886" y1="48634" x2="36242" y2="67760"/>
                        <a14:foregroundMark x1="36242" y1="67760" x2="39597" y2="73224"/>
                        <a14:foregroundMark x1="35570" y1="50820" x2="41611" y2="77596"/>
                        <a14:foregroundMark x1="41611" y1="77596" x2="68456" y2="79781"/>
                        <a14:foregroundMark x1="68456" y1="79781" x2="73826" y2="63934"/>
                        <a14:foregroundMark x1="93960" y1="84153" x2="93960" y2="84153"/>
                        <a14:foregroundMark x1="85235" y1="87978" x2="85235" y2="87978"/>
                        <a14:foregroundMark x1="80537" y1="91257" x2="80537" y2="91257"/>
                        <a14:foregroundMark x1="71812" y1="95082" x2="71812" y2="95082"/>
                        <a14:backgroundMark x1="71812" y1="11475" x2="99329" y2="153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84002" y="1275881"/>
            <a:ext cx="2304000" cy="28297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C790FE-6055-4430-976F-EAB508DC6B3C}"/>
              </a:ext>
            </a:extLst>
          </p:cNvPr>
          <p:cNvSpPr txBox="1"/>
          <p:nvPr/>
        </p:nvSpPr>
        <p:spPr>
          <a:xfrm>
            <a:off x="3677500" y="3947231"/>
            <a:ext cx="6336000" cy="3270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>
                <a:srgbClr val="C00000"/>
              </a:buClr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2.</a:t>
            </a:r>
          </a:p>
        </p:txBody>
      </p:sp>
    </p:spTree>
    <p:extLst>
      <p:ext uri="{BB962C8B-B14F-4D97-AF65-F5344CB8AC3E}">
        <p14:creationId xmlns:p14="http://schemas.microsoft.com/office/powerpoint/2010/main" val="2413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Times New Roman" panose="02020603050405020304" pitchFamily="18" charset="0"/>
                <a:sym typeface="+mn-lt"/>
              </a:rPr>
              <a:t>INTRODUCTION</a:t>
            </a: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F1576440-434B-FFF9-21F6-220C86B38999}"/>
              </a:ext>
            </a:extLst>
          </p:cNvPr>
          <p:cNvSpPr txBox="1"/>
          <p:nvPr/>
        </p:nvSpPr>
        <p:spPr>
          <a:xfrm>
            <a:off x="900000" y="1347881"/>
            <a:ext cx="4248000" cy="485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Instead…</a:t>
            </a:r>
          </a:p>
        </p:txBody>
      </p:sp>
      <p:pic>
        <p:nvPicPr>
          <p:cNvPr id="5" name="Picture 4" descr="A diagram of a metal rod&#10;&#10;Description automatically generated">
            <a:extLst>
              <a:ext uri="{FF2B5EF4-FFF2-40B4-BE49-F238E27FC236}">
                <a16:creationId xmlns:a16="http://schemas.microsoft.com/office/drawing/2014/main" id="{B74BF6A9-C81A-379C-5601-E25E8D5E4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000" y="1169853"/>
            <a:ext cx="4428000" cy="4437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776A3C-D4CA-E958-F0CB-5018366F83E8}"/>
              </a:ext>
            </a:extLst>
          </p:cNvPr>
          <p:cNvSpPr txBox="1"/>
          <p:nvPr/>
        </p:nvSpPr>
        <p:spPr>
          <a:xfrm>
            <a:off x="1404000" y="5279905"/>
            <a:ext cx="6336000" cy="3270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>
                <a:srgbClr val="C00000"/>
              </a:buClr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3.</a:t>
            </a:r>
          </a:p>
        </p:txBody>
      </p:sp>
    </p:spTree>
    <p:extLst>
      <p:ext uri="{BB962C8B-B14F-4D97-AF65-F5344CB8AC3E}">
        <p14:creationId xmlns:p14="http://schemas.microsoft.com/office/powerpoint/2010/main" val="107379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Times New Roman" panose="02020603050405020304" pitchFamily="18" charset="0"/>
                <a:sym typeface="+mn-lt"/>
              </a:rPr>
              <a:t>TIMELINE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B20E903-DC47-A7C8-1B4C-32554DE9A8B1}"/>
              </a:ext>
            </a:extLst>
          </p:cNvPr>
          <p:cNvCxnSpPr/>
          <p:nvPr/>
        </p:nvCxnSpPr>
        <p:spPr>
          <a:xfrm>
            <a:off x="180000" y="3250009"/>
            <a:ext cx="8784000" cy="0"/>
          </a:xfrm>
          <a:prstGeom prst="straightConnector1">
            <a:avLst/>
          </a:prstGeom>
          <a:ln w="57150">
            <a:solidFill>
              <a:srgbClr val="A0222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74024AA1-238D-95B0-2B97-DB7DC2A50A03}"/>
              </a:ext>
            </a:extLst>
          </p:cNvPr>
          <p:cNvSpPr/>
          <p:nvPr/>
        </p:nvSpPr>
        <p:spPr>
          <a:xfrm>
            <a:off x="220128" y="3261487"/>
            <a:ext cx="2520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A02225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2023.07-08: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Determine research topic, make the first step to the question,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have a basic understanding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7" name="标注: 下箭头 6">
            <a:extLst>
              <a:ext uri="{FF2B5EF4-FFF2-40B4-BE49-F238E27FC236}">
                <a16:creationId xmlns:a16="http://schemas.microsoft.com/office/drawing/2014/main" id="{CC07C651-D4FB-28C9-AA7E-BE24B142748B}"/>
              </a:ext>
            </a:extLst>
          </p:cNvPr>
          <p:cNvSpPr/>
          <p:nvPr/>
        </p:nvSpPr>
        <p:spPr>
          <a:xfrm>
            <a:off x="753166" y="1048408"/>
            <a:ext cx="250886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2023.09-10: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Collect references, work out the first version of formula about the pendulum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8" name="标注: 上箭头 7">
            <a:extLst>
              <a:ext uri="{FF2B5EF4-FFF2-40B4-BE49-F238E27FC236}">
                <a16:creationId xmlns:a16="http://schemas.microsoft.com/office/drawing/2014/main" id="{1B9F08DF-0AD1-2CBC-36AA-25BD908ADDCA}"/>
              </a:ext>
            </a:extLst>
          </p:cNvPr>
          <p:cNvSpPr/>
          <p:nvPr/>
        </p:nvSpPr>
        <p:spPr>
          <a:xfrm>
            <a:off x="2812128" y="3261487"/>
            <a:ext cx="3096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2023.11-12: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Study how to plot graph and how to meet the needs of experiments(e.g. python+3d design)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9" name="标注: 下箭头 8">
            <a:extLst>
              <a:ext uri="{FF2B5EF4-FFF2-40B4-BE49-F238E27FC236}">
                <a16:creationId xmlns:a16="http://schemas.microsoft.com/office/drawing/2014/main" id="{94FE36C7-410F-A305-F1F8-D8B0F16E5EE7}"/>
              </a:ext>
            </a:extLst>
          </p:cNvPr>
          <p:cNvSpPr/>
          <p:nvPr/>
        </p:nvSpPr>
        <p:spPr>
          <a:xfrm>
            <a:off x="3365230" y="1048408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2023.12-24.01: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Design experiment, make theorical expectations, calculate various answers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11" name="标注: 上箭头 10">
            <a:extLst>
              <a:ext uri="{FF2B5EF4-FFF2-40B4-BE49-F238E27FC236}">
                <a16:creationId xmlns:a16="http://schemas.microsoft.com/office/drawing/2014/main" id="{673A8D96-C4DD-BD09-9B55-F3C712903478}"/>
              </a:ext>
            </a:extLst>
          </p:cNvPr>
          <p:cNvSpPr/>
          <p:nvPr/>
        </p:nvSpPr>
        <p:spPr>
          <a:xfrm>
            <a:off x="5980128" y="3261487"/>
            <a:ext cx="2695872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2024.01-02: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Complete experiment, check if any mistakes,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Draw graphs and compare the expectations with reality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12" name="标注: 下箭头 11">
            <a:extLst>
              <a:ext uri="{FF2B5EF4-FFF2-40B4-BE49-F238E27FC236}">
                <a16:creationId xmlns:a16="http://schemas.microsoft.com/office/drawing/2014/main" id="{3136E38C-37E4-58FC-498C-35E07D7868B1}"/>
              </a:ext>
            </a:extLst>
          </p:cNvPr>
          <p:cNvSpPr/>
          <p:nvPr/>
        </p:nvSpPr>
        <p:spPr>
          <a:xfrm>
            <a:off x="6277056" y="1066124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2024.03-04: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Analyze data, finish the essay, submit to tutor for final revision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88443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Times New Roman" panose="02020603050405020304" pitchFamily="18" charset="0"/>
                <a:sym typeface="+mn-lt"/>
              </a:rPr>
              <a:t>TIMELINE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B20E903-DC47-A7C8-1B4C-32554DE9A8B1}"/>
              </a:ext>
            </a:extLst>
          </p:cNvPr>
          <p:cNvCxnSpPr/>
          <p:nvPr/>
        </p:nvCxnSpPr>
        <p:spPr>
          <a:xfrm>
            <a:off x="180000" y="3250009"/>
            <a:ext cx="8784000" cy="0"/>
          </a:xfrm>
          <a:prstGeom prst="straightConnector1">
            <a:avLst/>
          </a:prstGeom>
          <a:ln w="57150">
            <a:solidFill>
              <a:srgbClr val="A0222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74024AA1-238D-95B0-2B97-DB7DC2A50A03}"/>
              </a:ext>
            </a:extLst>
          </p:cNvPr>
          <p:cNvSpPr/>
          <p:nvPr/>
        </p:nvSpPr>
        <p:spPr>
          <a:xfrm>
            <a:off x="220128" y="3261487"/>
            <a:ext cx="2520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A02225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</a:rPr>
              <a:t>2023.07-08: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</a:rPr>
              <a:t>Determine research topic, make the first step to the question,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</a:rPr>
              <a:t>have a basic understanding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7" name="标注: 下箭头 6">
            <a:extLst>
              <a:ext uri="{FF2B5EF4-FFF2-40B4-BE49-F238E27FC236}">
                <a16:creationId xmlns:a16="http://schemas.microsoft.com/office/drawing/2014/main" id="{CC07C651-D4FB-28C9-AA7E-BE24B142748B}"/>
              </a:ext>
            </a:extLst>
          </p:cNvPr>
          <p:cNvSpPr/>
          <p:nvPr/>
        </p:nvSpPr>
        <p:spPr>
          <a:xfrm>
            <a:off x="753166" y="1048408"/>
            <a:ext cx="250886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rgbClr val="A02225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2023.09-10: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Collect references, work out the first version of formula about the pendulum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8" name="标注: 上箭头 7">
            <a:extLst>
              <a:ext uri="{FF2B5EF4-FFF2-40B4-BE49-F238E27FC236}">
                <a16:creationId xmlns:a16="http://schemas.microsoft.com/office/drawing/2014/main" id="{1B9F08DF-0AD1-2CBC-36AA-25BD908ADDCA}"/>
              </a:ext>
            </a:extLst>
          </p:cNvPr>
          <p:cNvSpPr/>
          <p:nvPr/>
        </p:nvSpPr>
        <p:spPr>
          <a:xfrm>
            <a:off x="2812128" y="3261487"/>
            <a:ext cx="3096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2023.11-12: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Study how to plot graph and how to meet the needs of experiments(e.g. python+3d design)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9" name="标注: 下箭头 8">
            <a:extLst>
              <a:ext uri="{FF2B5EF4-FFF2-40B4-BE49-F238E27FC236}">
                <a16:creationId xmlns:a16="http://schemas.microsoft.com/office/drawing/2014/main" id="{94FE36C7-410F-A305-F1F8-D8B0F16E5EE7}"/>
              </a:ext>
            </a:extLst>
          </p:cNvPr>
          <p:cNvSpPr/>
          <p:nvPr/>
        </p:nvSpPr>
        <p:spPr>
          <a:xfrm>
            <a:off x="3365230" y="1048408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2023.12-24.01: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Design experiment, make theorical expectations, calculate various answers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11" name="标注: 上箭头 10">
            <a:extLst>
              <a:ext uri="{FF2B5EF4-FFF2-40B4-BE49-F238E27FC236}">
                <a16:creationId xmlns:a16="http://schemas.microsoft.com/office/drawing/2014/main" id="{673A8D96-C4DD-BD09-9B55-F3C712903478}"/>
              </a:ext>
            </a:extLst>
          </p:cNvPr>
          <p:cNvSpPr/>
          <p:nvPr/>
        </p:nvSpPr>
        <p:spPr>
          <a:xfrm>
            <a:off x="5980128" y="3261487"/>
            <a:ext cx="2695872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2024.01-02: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Complete experiment, check if any mistakes,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Draw graphs and compare the expectations with reality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12" name="标注: 下箭头 11">
            <a:extLst>
              <a:ext uri="{FF2B5EF4-FFF2-40B4-BE49-F238E27FC236}">
                <a16:creationId xmlns:a16="http://schemas.microsoft.com/office/drawing/2014/main" id="{3136E38C-37E4-58FC-498C-35E07D7868B1}"/>
              </a:ext>
            </a:extLst>
          </p:cNvPr>
          <p:cNvSpPr/>
          <p:nvPr/>
        </p:nvSpPr>
        <p:spPr>
          <a:xfrm>
            <a:off x="6277056" y="1066124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2024.03-04: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Analyze data, finish the essay, submit to tutor for final revision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3222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ADJUSTMENTS</a:t>
            </a:r>
          </a:p>
        </p:txBody>
      </p:sp>
      <p:sp>
        <p:nvSpPr>
          <p:cNvPr id="7" name="TextBox 28">
            <a:extLst>
              <a:ext uri="{FF2B5EF4-FFF2-40B4-BE49-F238E27FC236}">
                <a16:creationId xmlns:a16="http://schemas.microsoft.com/office/drawing/2014/main" id="{6580018E-79CC-C236-1CF9-917A355B7C1D}"/>
              </a:ext>
            </a:extLst>
          </p:cNvPr>
          <p:cNvSpPr txBox="1"/>
          <p:nvPr/>
        </p:nvSpPr>
        <p:spPr>
          <a:xfrm>
            <a:off x="972000" y="1563881"/>
            <a:ext cx="7632000" cy="1039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Previous topic:     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The Effects on the period …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Current topic:        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Two Approximation Methods…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A9F993-F697-2A42-EF06-6CC64462E923}"/>
              </a:ext>
            </a:extLst>
          </p:cNvPr>
          <p:cNvGrpSpPr/>
          <p:nvPr/>
        </p:nvGrpSpPr>
        <p:grpSpPr>
          <a:xfrm>
            <a:off x="1404000" y="2845562"/>
            <a:ext cx="6336000" cy="2375814"/>
            <a:chOff x="1404000" y="2845562"/>
            <a:chExt cx="6336000" cy="23758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6AC37D6-C95C-DC7F-C209-50104EF0F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2000" y="2845562"/>
              <a:ext cx="5040000" cy="19701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D09A7C-98BF-3CF0-6E38-E478058C2103}"/>
                </a:ext>
              </a:extLst>
            </p:cNvPr>
            <p:cNvSpPr txBox="1"/>
            <p:nvPr/>
          </p:nvSpPr>
          <p:spPr>
            <a:xfrm>
              <a:off x="1404000" y="4894299"/>
              <a:ext cx="6336000" cy="32707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C00000"/>
                </a:buClr>
              </a:pPr>
              <a:r>
                <a:rPr lang="en-US" sz="1400" b="1" dirty="0">
                  <a:solidFill>
                    <a:schemeClr val="bg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Fig 4. (air friction)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914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ADJUSTMENTS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4FDCFD3A-C56A-859E-6BDE-6DE4903AF4F4}"/>
              </a:ext>
            </a:extLst>
          </p:cNvPr>
          <p:cNvSpPr txBox="1"/>
          <p:nvPr/>
        </p:nvSpPr>
        <p:spPr>
          <a:xfrm>
            <a:off x="972000" y="1563881"/>
            <a:ext cx="7632000" cy="28514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Reasons: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Easy to 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determine variables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zh-CN" sz="1600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zh-CN" sz="1600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--viscous constant / inertia / length </a:t>
            </a:r>
            <a:r>
              <a:rPr lang="en-US" altLang="zh-CN" sz="1600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…</a:t>
            </a:r>
            <a:endParaRPr lang="en-US" altLang="zh-CN" sz="24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Hard to find 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accurate period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Nonlinear motion </a:t>
            </a:r>
            <a:r>
              <a:rPr lang="en-US" altLang="zh-CN" sz="2000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under friction and driving conditions 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15492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ADJUSTMENTS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8">
                <a:extLst>
                  <a:ext uri="{FF2B5EF4-FFF2-40B4-BE49-F238E27FC236}">
                    <a16:creationId xmlns:a16="http://schemas.microsoft.com/office/drawing/2014/main" id="{4FDCFD3A-C56A-859E-6BDE-6DE4903AF4F4}"/>
                  </a:ext>
                </a:extLst>
              </p:cNvPr>
              <p:cNvSpPr txBox="1"/>
              <p:nvPr/>
            </p:nvSpPr>
            <p:spPr>
              <a:xfrm>
                <a:off x="972000" y="1563881"/>
                <a:ext cx="7632000" cy="30371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Methods:</a:t>
                </a:r>
                <a:r>
                  <a:rPr lang="en-US" altLang="zh-CN" sz="1200" b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[2]</a:t>
                </a: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14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  <a:p>
                <a:pPr marL="342900" indent="-342900"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+mn-lt"/>
                      </a:rPr>
                      <m:t>𝒇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+mn-lt"/>
                      </a:rPr>
                      <m:t>∝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+mn-lt"/>
                      </a:rPr>
                      <m:t>𝒗</m:t>
                    </m:r>
                  </m:oMath>
                </a14:m>
                <a:endParaRPr lang="en-US" altLang="zh-CN" sz="24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  <a:p>
                <a:pPr marL="342900" indent="-342900"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+mn-lt"/>
                      </a:rPr>
                      <m:t>𝒇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+mn-lt"/>
                      </a:rPr>
                      <m:t>∝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+mn-lt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9A0D1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4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  <a:p>
                <a:pPr marL="342900" indent="-342900"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endParaRPr lang="en-US" altLang="zh-CN" sz="24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4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4" name="TextBox 28">
                <a:extLst>
                  <a:ext uri="{FF2B5EF4-FFF2-40B4-BE49-F238E27FC236}">
                    <a16:creationId xmlns:a16="http://schemas.microsoft.com/office/drawing/2014/main" id="{4FDCFD3A-C56A-859E-6BDE-6DE4903AF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00" y="1563881"/>
                <a:ext cx="7632000" cy="3037178"/>
              </a:xfrm>
              <a:prstGeom prst="rect">
                <a:avLst/>
              </a:prstGeom>
              <a:blipFill>
                <a:blip r:embed="rId3"/>
                <a:stretch>
                  <a:fillRect l="-2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116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8">
                <a:extLst>
                  <a:ext uri="{FF2B5EF4-FFF2-40B4-BE49-F238E27FC236}">
                    <a16:creationId xmlns:a16="http://schemas.microsoft.com/office/drawing/2014/main" id="{4FDCFD3A-C56A-859E-6BDE-6DE4903AF4F4}"/>
                  </a:ext>
                </a:extLst>
              </p:cNvPr>
              <p:cNvSpPr txBox="1"/>
              <p:nvPr/>
            </p:nvSpPr>
            <p:spPr>
              <a:xfrm>
                <a:off x="684000" y="1419881"/>
                <a:ext cx="7848000" cy="1685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From analogue </a:t>
                </a:r>
                <a:r>
                  <a:rPr lang="en-US" altLang="zh-CN" sz="2400" b="1" i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Newton’s II Law of motion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in rotation:</a:t>
                </a:r>
              </a:p>
              <a:p>
                <a:pPr algn="ctr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800" i="1" dirty="0">
                    <a:solidFill>
                      <a:schemeClr val="tx1"/>
                    </a:solidFill>
                    <a:ea typeface="微软雅黑"/>
                    <a:cs typeface="Times New Roman" panose="02020603050405020304" pitchFamily="18" charset="0"/>
                    <a:sym typeface="+mn-lt"/>
                  </a:rPr>
                  <a:t>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i="1" dirty="0">
                        <a:solidFill>
                          <a:schemeClr val="tx1"/>
                        </a:solidFill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→</m:t>
                    </m:r>
                  </m:oMath>
                </a14:m>
                <a:r>
                  <a:rPr lang="en-US" altLang="zh-CN" sz="2800" i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𝐼</m:t>
                    </m:r>
                  </m:oMath>
                </a14:m>
                <a:r>
                  <a:rPr lang="en-US" altLang="zh-CN" sz="2800" i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, a </a:t>
                </a:r>
                <a:r>
                  <a:rPr lang="en-US" altLang="zh-CN" sz="2800" i="1" dirty="0">
                    <a:solidFill>
                      <a:schemeClr val="tx1"/>
                    </a:solidFill>
                    <a:ea typeface="微软雅黑"/>
                    <a:cs typeface="Times New Roman" panose="02020603050405020304" pitchFamily="18" charset="0"/>
                    <a:sym typeface="+mn-lt"/>
                  </a:rPr>
                  <a:t>→ </a:t>
                </a:r>
                <a:r>
                  <a:rPr lang="el-GR" altLang="zh-CN" sz="2800" i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α</a:t>
                </a:r>
                <a:r>
                  <a:rPr lang="en-US" altLang="zh-CN" sz="2800" i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, F</a:t>
                </a:r>
                <a:r>
                  <a:rPr lang="en-US" altLang="zh-CN" sz="2800" i="1" dirty="0">
                    <a:solidFill>
                      <a:schemeClr val="tx1"/>
                    </a:solidFill>
                    <a:ea typeface="微软雅黑"/>
                    <a:cs typeface="Times New Roman" panose="02020603050405020304" pitchFamily="18" charset="0"/>
                    <a:sym typeface="+mn-lt"/>
                  </a:rPr>
                  <a:t> → </a:t>
                </a:r>
                <a:r>
                  <a:rPr lang="en-US" altLang="zh-CN" sz="2800" i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M</a:t>
                </a: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4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4" name="TextBox 28">
                <a:extLst>
                  <a:ext uri="{FF2B5EF4-FFF2-40B4-BE49-F238E27FC236}">
                    <a16:creationId xmlns:a16="http://schemas.microsoft.com/office/drawing/2014/main" id="{4FDCFD3A-C56A-859E-6BDE-6DE4903AF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0" y="1419881"/>
                <a:ext cx="7848000" cy="1685846"/>
              </a:xfrm>
              <a:prstGeom prst="rect">
                <a:avLst/>
              </a:prstGeom>
              <a:blipFill>
                <a:blip r:embed="rId3"/>
                <a:stretch>
                  <a:fillRect l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B74A7D-9DA3-127A-B1D3-ACB75CD5DF41}"/>
                  </a:ext>
                </a:extLst>
              </p:cNvPr>
              <p:cNvSpPr txBox="1"/>
              <p:nvPr/>
            </p:nvSpPr>
            <p:spPr>
              <a:xfrm>
                <a:off x="1323000" y="3219881"/>
                <a:ext cx="6498000" cy="156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𝒎𝒂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𝑭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  →  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𝑰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𝜶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𝑴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B74A7D-9DA3-127A-B1D3-ACB75CD5D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3219881"/>
                <a:ext cx="6498000" cy="1566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2489FF6-2ED1-4EA2-57CF-8DE9BE7BEE4A}"/>
              </a:ext>
            </a:extLst>
          </p:cNvPr>
          <p:cNvSpPr txBox="1"/>
          <p:nvPr/>
        </p:nvSpPr>
        <p:spPr>
          <a:xfrm>
            <a:off x="684000" y="5017088"/>
            <a:ext cx="2736000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dirty="0"/>
              <a:t>Sep. 16th</a:t>
            </a:r>
          </a:p>
        </p:txBody>
      </p:sp>
    </p:spTree>
    <p:extLst>
      <p:ext uri="{BB962C8B-B14F-4D97-AF65-F5344CB8AC3E}">
        <p14:creationId xmlns:p14="http://schemas.microsoft.com/office/powerpoint/2010/main" val="335800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B74A7D-9DA3-127A-B1D3-ACB75CD5DF41}"/>
                  </a:ext>
                </a:extLst>
              </p:cNvPr>
              <p:cNvSpPr txBox="1"/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𝑰</m:t>
                      </m:r>
                      <m:acc>
                        <m:accPr>
                          <m:chr m:val="̈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𝜽</m:t>
                          </m:r>
                        </m:e>
                      </m:acc>
                      <m:r>
                        <a:rPr lang="en-US" altLang="zh-CN" sz="2800" b="1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𝑭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+mn-lt"/>
                        </a:rPr>
                        <m:t>∙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+mn-lt"/>
                        </a:rPr>
                        <m:t>𝒅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B74A7D-9DA3-127A-B1D3-ACB75CD5D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8">
            <a:extLst>
              <a:ext uri="{FF2B5EF4-FFF2-40B4-BE49-F238E27FC236}">
                <a16:creationId xmlns:a16="http://schemas.microsoft.com/office/drawing/2014/main" id="{CFF3D13C-3062-A8AE-C7C7-776F6077D132}"/>
              </a:ext>
            </a:extLst>
          </p:cNvPr>
          <p:cNvSpPr txBox="1"/>
          <p:nvPr/>
        </p:nvSpPr>
        <p:spPr>
          <a:xfrm>
            <a:off x="900000" y="2427881"/>
            <a:ext cx="7632000" cy="2147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Force list:</a:t>
            </a:r>
          </a:p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Weight        </a:t>
            </a:r>
          </a:p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Buoyance</a:t>
            </a:r>
          </a:p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Viscous force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8">
                <a:extLst>
                  <a:ext uri="{FF2B5EF4-FFF2-40B4-BE49-F238E27FC236}">
                    <a16:creationId xmlns:a16="http://schemas.microsoft.com/office/drawing/2014/main" id="{DA7AD7AC-C76B-718C-E6A3-75AD3503A725}"/>
                  </a:ext>
                </a:extLst>
              </p:cNvPr>
              <p:cNvSpPr txBox="1"/>
              <p:nvPr/>
            </p:nvSpPr>
            <p:spPr>
              <a:xfrm>
                <a:off x="4176000" y="3046122"/>
                <a:ext cx="3096000" cy="21177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3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𝑾</m:t>
                    </m:r>
                    <m:r>
                      <a:rPr lang="en-US" altLang="zh-CN" sz="23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3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𝒎𝒈</m:t>
                    </m:r>
                  </m:oMath>
                </a14:m>
                <a:r>
                  <a:rPr lang="en-US" altLang="zh-CN" sz="2300" b="1" dirty="0">
                    <a:solidFill>
                      <a:schemeClr val="tx1"/>
                    </a:solidFill>
                    <a:ea typeface="微软雅黑"/>
                    <a:cs typeface="Times New Roman" panose="02020603050405020304" pitchFamily="18" charset="0"/>
                    <a:sym typeface="+mn-lt"/>
                  </a:rPr>
                  <a:t> </a:t>
                </a: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3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𝑭</m:t>
                        </m:r>
                      </m:e>
                      <m:sub>
                        <m:r>
                          <a:rPr lang="en-US" altLang="zh-CN" sz="23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𝒖𝒑</m:t>
                        </m:r>
                      </m:sub>
                    </m:sSub>
                    <m:r>
                      <a:rPr lang="en-US" altLang="zh-CN" sz="23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sSub>
                      <m:sSubPr>
                        <m:ctrlPr>
                          <a:rPr lang="en-US" altLang="zh-CN" sz="23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bPr>
                      <m:e>
                        <m:r>
                          <a:rPr lang="zh-CN" altLang="en-US" sz="23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𝝆</m:t>
                        </m:r>
                      </m:e>
                      <m:sub>
                        <m:r>
                          <a:rPr lang="en-US" altLang="zh-CN" sz="23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𝒘</m:t>
                        </m:r>
                      </m:sub>
                    </m:sSub>
                    <m:r>
                      <a:rPr lang="en-US" altLang="zh-CN" sz="23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𝒈𝑽</m:t>
                    </m:r>
                  </m:oMath>
                </a14:m>
                <a:r>
                  <a:rPr lang="en-US" altLang="zh-CN" sz="2300" b="1" dirty="0">
                    <a:solidFill>
                      <a:schemeClr val="tx1"/>
                    </a:solidFill>
                    <a:ea typeface="微软雅黑"/>
                    <a:cs typeface="Times New Roman" panose="02020603050405020304" pitchFamily="18" charset="0"/>
                    <a:sym typeface="+mn-lt"/>
                  </a:rPr>
                  <a:t> </a:t>
                </a: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3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𝒇</m:t>
                    </m:r>
                    <m:r>
                      <a:rPr lang="en-US" altLang="zh-CN" sz="23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3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𝒌𝒗</m:t>
                    </m:r>
                  </m:oMath>
                </a14:m>
                <a:r>
                  <a:rPr lang="en-US" altLang="zh-CN" sz="2300" b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𝒇</m:t>
                    </m:r>
                    <m:r>
                      <a:rPr lang="en-US" altLang="zh-CN" sz="23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3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𝒌</m:t>
                    </m:r>
                    <m:sSup>
                      <m:sSupPr>
                        <m:ctrlPr>
                          <a:rPr lang="en-US" altLang="zh-CN" sz="23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3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𝒗</m:t>
                        </m:r>
                      </m:e>
                      <m:sup>
                        <m:r>
                          <a:rPr lang="en-US" altLang="zh-CN" sz="23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3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3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6" name="TextBox 28">
                <a:extLst>
                  <a:ext uri="{FF2B5EF4-FFF2-40B4-BE49-F238E27FC236}">
                    <a16:creationId xmlns:a16="http://schemas.microsoft.com/office/drawing/2014/main" id="{DA7AD7AC-C76B-718C-E6A3-75AD3503A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000" y="3046122"/>
                <a:ext cx="3096000" cy="2117759"/>
              </a:xfrm>
              <a:prstGeom prst="rect">
                <a:avLst/>
              </a:prstGeom>
              <a:blipFill>
                <a:blip r:embed="rId4"/>
                <a:stretch>
                  <a:fillRect l="-4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5220D4D7-7EA0-A064-B7FE-556E51978F91}"/>
              </a:ext>
            </a:extLst>
          </p:cNvPr>
          <p:cNvSpPr txBox="1"/>
          <p:nvPr/>
        </p:nvSpPr>
        <p:spPr>
          <a:xfrm>
            <a:off x="684000" y="5017088"/>
            <a:ext cx="2736000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dirty="0"/>
              <a:t>Sep. 25th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81CBA1-70E6-3EA8-FAEA-ACD58CB6694E}"/>
              </a:ext>
            </a:extLst>
          </p:cNvPr>
          <p:cNvGrpSpPr/>
          <p:nvPr/>
        </p:nvGrpSpPr>
        <p:grpSpPr>
          <a:xfrm>
            <a:off x="4653000" y="1501857"/>
            <a:ext cx="6336000" cy="3620166"/>
            <a:chOff x="4653000" y="1501857"/>
            <a:chExt cx="6336000" cy="362016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8EF95F-72B0-EBA1-28EF-F86D81EE121D}"/>
                </a:ext>
              </a:extLst>
            </p:cNvPr>
            <p:cNvSpPr/>
            <p:nvPr/>
          </p:nvSpPr>
          <p:spPr>
            <a:xfrm rot="20087383">
              <a:off x="7390619" y="1501857"/>
              <a:ext cx="292120" cy="2813284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D914C4C-0CBE-446A-765A-69298DEBEE5A}"/>
                </a:ext>
              </a:extLst>
            </p:cNvPr>
            <p:cNvSpPr/>
            <p:nvPr/>
          </p:nvSpPr>
          <p:spPr>
            <a:xfrm>
              <a:off x="7072562" y="195016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1C14144-9036-5F25-1730-E250ED965C6D}"/>
                </a:ext>
              </a:extLst>
            </p:cNvPr>
            <p:cNvCxnSpPr>
              <a:cxnSpLocks/>
            </p:cNvCxnSpPr>
            <p:nvPr/>
          </p:nvCxnSpPr>
          <p:spPr>
            <a:xfrm>
              <a:off x="7536678" y="2931881"/>
              <a:ext cx="4012" cy="98081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83F1D3-0F3B-E1A6-A8D5-133E8B52A9D1}"/>
                </a:ext>
              </a:extLst>
            </p:cNvPr>
            <p:cNvSpPr txBox="1"/>
            <p:nvPr/>
          </p:nvSpPr>
          <p:spPr>
            <a:xfrm>
              <a:off x="7272000" y="3858104"/>
              <a:ext cx="458281" cy="42774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C00000"/>
                </a:buClr>
              </a:pPr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950A603-D986-1902-245E-5DE7A0D033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2731" y="2176970"/>
              <a:ext cx="0" cy="71243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989BED-BDBF-4719-D90A-47A19A188677}"/>
                </a:ext>
              </a:extLst>
            </p:cNvPr>
            <p:cNvSpPr txBox="1"/>
            <p:nvPr/>
          </p:nvSpPr>
          <p:spPr>
            <a:xfrm>
              <a:off x="7569719" y="2000135"/>
              <a:ext cx="458281" cy="42774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C00000"/>
                </a:buClr>
              </a:pPr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A6A8961-3DE6-3F47-2C63-B02843FE829F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H="1">
              <a:off x="7058812" y="2928428"/>
              <a:ext cx="461702" cy="257606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83E63DF-CB32-4DF0-2B92-2671785F6B6B}"/>
                </a:ext>
              </a:extLst>
            </p:cNvPr>
            <p:cNvSpPr/>
            <p:nvPr/>
          </p:nvSpPr>
          <p:spPr>
            <a:xfrm>
              <a:off x="7513819" y="288940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775FBF-3697-3E2A-7F44-0E4228A5291C}"/>
                </a:ext>
              </a:extLst>
            </p:cNvPr>
            <p:cNvSpPr txBox="1"/>
            <p:nvPr/>
          </p:nvSpPr>
          <p:spPr>
            <a:xfrm>
              <a:off x="6760626" y="2849124"/>
              <a:ext cx="458281" cy="42774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C00000"/>
                </a:buClr>
              </a:pPr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50" name="Arrow: Curved Right 49">
              <a:extLst>
                <a:ext uri="{FF2B5EF4-FFF2-40B4-BE49-F238E27FC236}">
                  <a16:creationId xmlns:a16="http://schemas.microsoft.com/office/drawing/2014/main" id="{858B0081-738F-A50F-7229-DF9D4EABFF24}"/>
                </a:ext>
              </a:extLst>
            </p:cNvPr>
            <p:cNvSpPr/>
            <p:nvPr/>
          </p:nvSpPr>
          <p:spPr>
            <a:xfrm rot="14623677">
              <a:off x="8015236" y="3870756"/>
              <a:ext cx="283558" cy="1017570"/>
            </a:xfrm>
            <a:prstGeom prst="curvedRightArrow">
              <a:avLst>
                <a:gd name="adj1" fmla="val 0"/>
                <a:gd name="adj2" fmla="val 28788"/>
                <a:gd name="adj3" fmla="val 39594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71BD59B-C4D7-849C-54D1-E6C05DF05AEA}"/>
                    </a:ext>
                  </a:extLst>
                </p:cNvPr>
                <p:cNvSpPr txBox="1"/>
                <p:nvPr/>
              </p:nvSpPr>
              <p:spPr>
                <a:xfrm>
                  <a:off x="7869015" y="4407971"/>
                  <a:ext cx="806985" cy="461665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20000"/>
                    </a:lnSpc>
                    <a:buClr>
                      <a:srgbClr val="C00000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71BD59B-C4D7-849C-54D1-E6C05DF05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9015" y="4407971"/>
                  <a:ext cx="806985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4AEF20A-D3E2-DB22-D535-5545AC185E1F}"/>
                </a:ext>
              </a:extLst>
            </p:cNvPr>
            <p:cNvSpPr txBox="1"/>
            <p:nvPr/>
          </p:nvSpPr>
          <p:spPr>
            <a:xfrm>
              <a:off x="4653000" y="4794946"/>
              <a:ext cx="6336000" cy="32707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C00000"/>
                </a:buClr>
              </a:pPr>
              <a:r>
                <a:rPr lang="en-US" sz="1400" b="1" dirty="0">
                  <a:solidFill>
                    <a:schemeClr val="bg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Fig 5.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702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/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𝑰</m:t>
                      </m:r>
                      <m:acc>
                        <m:accPr>
                          <m:chr m:val="̈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𝜽</m:t>
                          </m:r>
                        </m:e>
                      </m:acc>
                      <m:r>
                        <a:rPr lang="en-US" altLang="zh-CN" sz="2800" b="1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𝑾𝑹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𝒇𝑹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𝑭𝑹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E730F-BF53-5D11-79D0-45A69A08CFC0}"/>
                  </a:ext>
                </a:extLst>
              </p:cNvPr>
              <p:cNvSpPr txBox="1"/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𝒇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𝒌𝑹</m:t>
                    </m:r>
                    <m:r>
                      <a:rPr lang="zh-CN" alt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𝝎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𝒌𝑹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acc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𝜽</m:t>
                        </m:r>
                      </m:e>
                    </m:acc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E730F-BF53-5D11-79D0-45A69A08C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blipFill>
                <a:blip r:embed="rId4"/>
                <a:stretch>
                  <a:fillRect l="-247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/>
              <p:nvPr/>
            </p:nvSpPr>
            <p:spPr>
              <a:xfrm>
                <a:off x="1323000" y="2379514"/>
                <a:ext cx="6498000" cy="990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𝑰</m:t>
                      </m:r>
                      <m:acc>
                        <m:accPr>
                          <m:chr m:val="̈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𝜽</m:t>
                          </m:r>
                        </m:e>
                      </m:acc>
                      <m:r>
                        <a:rPr lang="en-US" altLang="zh-CN" sz="2800" b="1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𝒎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−</m:t>
                          </m:r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𝝆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𝑽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𝒈𝑹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𝜽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𝒌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𝟐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𝜽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2379514"/>
                <a:ext cx="6498000" cy="9909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2DB381A-1859-F298-016C-0E5634940F33}"/>
              </a:ext>
            </a:extLst>
          </p:cNvPr>
          <p:cNvGrpSpPr/>
          <p:nvPr/>
        </p:nvGrpSpPr>
        <p:grpSpPr>
          <a:xfrm>
            <a:off x="7094872" y="2350597"/>
            <a:ext cx="1509128" cy="2813284"/>
            <a:chOff x="7094872" y="2350597"/>
            <a:chExt cx="1509128" cy="281328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8EF95F-72B0-EBA1-28EF-F86D81EE121D}"/>
                </a:ext>
              </a:extLst>
            </p:cNvPr>
            <p:cNvSpPr/>
            <p:nvPr/>
          </p:nvSpPr>
          <p:spPr>
            <a:xfrm>
              <a:off x="7782806" y="2350597"/>
              <a:ext cx="292120" cy="2813284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D914C4C-0CBE-446A-765A-69298DEBEE5A}"/>
                </a:ext>
              </a:extLst>
            </p:cNvPr>
            <p:cNvSpPr/>
            <p:nvPr/>
          </p:nvSpPr>
          <p:spPr>
            <a:xfrm rot="1512617">
              <a:off x="7928401" y="270029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1C14144-9036-5F25-1730-E250ED965C6D}"/>
                </a:ext>
              </a:extLst>
            </p:cNvPr>
            <p:cNvCxnSpPr>
              <a:cxnSpLocks/>
            </p:cNvCxnSpPr>
            <p:nvPr/>
          </p:nvCxnSpPr>
          <p:spPr>
            <a:xfrm rot="1512617">
              <a:off x="7699454" y="3727559"/>
              <a:ext cx="4012" cy="98081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950A603-D986-1902-245E-5DE7A0D03370}"/>
                </a:ext>
              </a:extLst>
            </p:cNvPr>
            <p:cNvCxnSpPr>
              <a:cxnSpLocks/>
            </p:cNvCxnSpPr>
            <p:nvPr/>
          </p:nvCxnSpPr>
          <p:spPr>
            <a:xfrm rot="1512617" flipV="1">
              <a:off x="8092758" y="3063362"/>
              <a:ext cx="0" cy="71243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989BED-BDBF-4719-D90A-47A19A188677}"/>
                </a:ext>
              </a:extLst>
            </p:cNvPr>
            <p:cNvSpPr txBox="1"/>
            <p:nvPr/>
          </p:nvSpPr>
          <p:spPr>
            <a:xfrm rot="21523005">
              <a:off x="8244184" y="2828893"/>
              <a:ext cx="355052" cy="42941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C00000"/>
                </a:buClr>
              </a:pPr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A6A8961-3DE6-3F47-2C63-B02843FE829F}"/>
                </a:ext>
              </a:extLst>
            </p:cNvPr>
            <p:cNvCxnSpPr>
              <a:cxnSpLocks/>
              <a:stCxn id="9" idx="7"/>
            </p:cNvCxnSpPr>
            <p:nvPr/>
          </p:nvCxnSpPr>
          <p:spPr>
            <a:xfrm flipH="1" flipV="1">
              <a:off x="7403888" y="3752510"/>
              <a:ext cx="544807" cy="358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83E63DF-CB32-4DF0-2B92-2671785F6B6B}"/>
                </a:ext>
              </a:extLst>
            </p:cNvPr>
            <p:cNvSpPr/>
            <p:nvPr/>
          </p:nvSpPr>
          <p:spPr>
            <a:xfrm rot="1512617">
              <a:off x="7904326" y="373774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83F1D3-0F3B-E1A6-A8D5-133E8B52A9D1}"/>
                </a:ext>
              </a:extLst>
            </p:cNvPr>
            <p:cNvSpPr txBox="1"/>
            <p:nvPr/>
          </p:nvSpPr>
          <p:spPr>
            <a:xfrm rot="14401">
              <a:off x="7094873" y="4573491"/>
              <a:ext cx="458281" cy="42774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C00000"/>
                </a:buClr>
              </a:pPr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775FBF-3697-3E2A-7F44-0E4228A5291C}"/>
                </a:ext>
              </a:extLst>
            </p:cNvPr>
            <p:cNvSpPr txBox="1"/>
            <p:nvPr/>
          </p:nvSpPr>
          <p:spPr>
            <a:xfrm rot="14401">
              <a:off x="7094872" y="3562419"/>
              <a:ext cx="458281" cy="42774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C00000"/>
                </a:buClr>
              </a:pPr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A08CF9F-B80C-57A3-BFFA-3F82F8BDE8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6537" y="2754748"/>
              <a:ext cx="5627" cy="94284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CD4E676-C9B4-84E5-604B-BD5E5C3485DE}"/>
                </a:ext>
              </a:extLst>
            </p:cNvPr>
            <p:cNvSpPr txBox="1"/>
            <p:nvPr/>
          </p:nvSpPr>
          <p:spPr>
            <a:xfrm rot="21523005">
              <a:off x="7702380" y="2986012"/>
              <a:ext cx="355052" cy="42941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C00000"/>
                </a:buClr>
              </a:pPr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5B274D-98BB-D807-A6E3-A2423AA1FD78}"/>
                </a:ext>
              </a:extLst>
            </p:cNvPr>
            <p:cNvCxnSpPr>
              <a:cxnSpLocks/>
              <a:stCxn id="9" idx="0"/>
              <a:endCxn id="7" idx="2"/>
            </p:cNvCxnSpPr>
            <p:nvPr/>
          </p:nvCxnSpPr>
          <p:spPr>
            <a:xfrm flipH="1">
              <a:off x="7928866" y="3739926"/>
              <a:ext cx="8057" cy="1423955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C9055166-BA87-EAB0-57C2-B28E8FA30D07}"/>
                </a:ext>
              </a:extLst>
            </p:cNvPr>
            <p:cNvSpPr/>
            <p:nvPr/>
          </p:nvSpPr>
          <p:spPr>
            <a:xfrm rot="10629851">
              <a:off x="7848361" y="3906193"/>
              <a:ext cx="176351" cy="8204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F122DA3-72C3-3C65-0E4C-4DA84458C495}"/>
                </a:ext>
              </a:extLst>
            </p:cNvPr>
            <p:cNvSpPr txBox="1"/>
            <p:nvPr/>
          </p:nvSpPr>
          <p:spPr>
            <a:xfrm>
              <a:off x="7731984" y="3926105"/>
              <a:ext cx="872016" cy="29360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C00000"/>
                </a:buClr>
              </a:pPr>
              <a:r>
                <a:rPr lang="el-GR" sz="1200" b="1" i="1" dirty="0"/>
                <a:t>θ</a:t>
              </a:r>
              <a:endParaRPr lang="en-US" sz="1200" b="1" i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0EB30F-9A56-F43A-1279-2FEB2B1D804E}"/>
                  </a:ext>
                </a:extLst>
              </p:cNvPr>
              <p:cNvSpPr txBox="1"/>
              <p:nvPr/>
            </p:nvSpPr>
            <p:spPr>
              <a:xfrm>
                <a:off x="2601498" y="3399408"/>
                <a:ext cx="3033651" cy="40241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  <a:buClr>
                    <a:srgbClr val="C00000"/>
                  </a:buClr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≪5,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200" b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微软雅黑"/>
                    <a:cs typeface="Times New Roman" panose="02020603050405020304" pitchFamily="18" charset="0"/>
                  </a:rPr>
                  <a:t>[3]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0EB30F-9A56-F43A-1279-2FEB2B1D8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498" y="3399408"/>
                <a:ext cx="3033651" cy="402418"/>
              </a:xfrm>
              <a:prstGeom prst="rect">
                <a:avLst/>
              </a:prstGeom>
              <a:blipFill>
                <a:blip r:embed="rId6"/>
                <a:stretch>
                  <a:fillRect l="-6237" t="-15152" r="-2616" b="-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1668FA-12C8-B708-414C-8F882F7650E6}"/>
              </a:ext>
            </a:extLst>
          </p:cNvPr>
          <p:cNvCxnSpPr/>
          <p:nvPr/>
        </p:nvCxnSpPr>
        <p:spPr>
          <a:xfrm flipV="1">
            <a:off x="5292000" y="2914119"/>
            <a:ext cx="0" cy="4852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B1A908A-75C5-891A-3341-A9719172CF0B}"/>
              </a:ext>
            </a:extLst>
          </p:cNvPr>
          <p:cNvSpPr txBox="1"/>
          <p:nvPr/>
        </p:nvSpPr>
        <p:spPr>
          <a:xfrm>
            <a:off x="684000" y="5017088"/>
            <a:ext cx="2736000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dirty="0"/>
              <a:t>Oct. 4th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20C15E-0788-9A97-0F10-8FC20C0E5477}"/>
              </a:ext>
            </a:extLst>
          </p:cNvPr>
          <p:cNvGrpSpPr/>
          <p:nvPr/>
        </p:nvGrpSpPr>
        <p:grpSpPr>
          <a:xfrm>
            <a:off x="567101" y="3947214"/>
            <a:ext cx="7819053" cy="931848"/>
            <a:chOff x="567101" y="3947214"/>
            <a:chExt cx="7819053" cy="931848"/>
          </a:xfrm>
        </p:grpSpPr>
        <p:pic>
          <p:nvPicPr>
            <p:cNvPr id="47" name="Picture 46" descr="A close up of a sign&#10;&#10;Description automatically generated">
              <a:extLst>
                <a:ext uri="{FF2B5EF4-FFF2-40B4-BE49-F238E27FC236}">
                  <a16:creationId xmlns:a16="http://schemas.microsoft.com/office/drawing/2014/main" id="{FC005178-68B9-58B2-C419-F88FCC11D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101" y="3947214"/>
              <a:ext cx="4270843" cy="903011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352CA3-ECFC-CB2B-9A48-9170F3C96B93}"/>
                </a:ext>
              </a:extLst>
            </p:cNvPr>
            <p:cNvSpPr txBox="1"/>
            <p:nvPr/>
          </p:nvSpPr>
          <p:spPr>
            <a:xfrm>
              <a:off x="2050154" y="4551985"/>
              <a:ext cx="6336000" cy="32707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C00000"/>
                </a:buClr>
              </a:pPr>
              <a:r>
                <a:rPr lang="en-US" sz="1400" b="1" dirty="0">
                  <a:solidFill>
                    <a:schemeClr val="bg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Fig 6.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24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A6D441-595C-D998-DDEE-434ED0404E0D}"/>
                  </a:ext>
                </a:extLst>
              </p:cNvPr>
              <p:cNvSpPr txBox="1"/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𝑓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𝑘𝑅</m:t>
                    </m:r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𝑘𝑅</m:t>
                    </m:r>
                    <m:acc>
                      <m:accPr>
                        <m:chr m:val="̇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accPr>
                      <m:e>
                        <m:r>
                          <a:rPr lang="zh-CN" altLang="en-US" sz="2400" b="0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𝜃</m:t>
                        </m:r>
                      </m:e>
                    </m:acc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A6D441-595C-D998-DDEE-434ED0404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blipFill>
                <a:blip r:embed="rId3"/>
                <a:stretch>
                  <a:fillRect l="-247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/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𝐼</m:t>
                      </m:r>
                      <m:acc>
                        <m:accPr>
                          <m:chr m:val="̈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𝜃</m:t>
                          </m:r>
                        </m:e>
                      </m:acc>
                      <m:r>
                        <a:rPr lang="en-US" altLang="zh-CN" sz="2800" b="0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𝑊𝑅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𝑓𝑅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𝐹𝑅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/>
              <p:nvPr/>
            </p:nvSpPr>
            <p:spPr>
              <a:xfrm>
                <a:off x="-832580" y="2355881"/>
                <a:ext cx="10512000" cy="11498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𝜽</m:t>
                          </m:r>
                        </m:e>
                      </m:acc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+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𝒌</m:t>
                          </m:r>
                          <m:sSup>
                            <m:sSup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𝑰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𝜽</m:t>
                          </m:r>
                        </m:e>
                      </m:acc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𝒎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−</m:t>
                              </m:r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𝝆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𝑽</m:t>
                              </m:r>
                            </m:e>
                          </m:d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𝒈𝑹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𝑰</m:t>
                          </m:r>
                        </m:den>
                      </m:f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𝜽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𝟎</m:t>
                      </m:r>
                    </m:oMath>
                  </m:oMathPara>
                </a14:m>
                <a:endParaRPr lang="en-US" sz="2800" dirty="0"/>
              </a:p>
              <a:p>
                <a:pPr algn="ctr"/>
                <a:endParaRPr lang="en-US" sz="1200" b="1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微软雅黑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2580" y="2355881"/>
                <a:ext cx="10512000" cy="11498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26E1ED6-5A2E-6598-66F8-73CF83C0C533}"/>
              </a:ext>
            </a:extLst>
          </p:cNvPr>
          <p:cNvSpPr txBox="1"/>
          <p:nvPr/>
        </p:nvSpPr>
        <p:spPr>
          <a:xfrm>
            <a:off x="-684000" y="3293376"/>
            <a:ext cx="1051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/>
              <a:t>Homogeneous second-order </a:t>
            </a:r>
          </a:p>
          <a:p>
            <a:pPr algn="ctr"/>
            <a:r>
              <a:rPr lang="en-US" sz="2800" dirty="0"/>
              <a:t>linear ordinary differential equation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+mn-lt"/>
                <a:ea typeface="微软雅黑"/>
                <a:cs typeface="Times New Roman" panose="02020603050405020304" pitchFamily="18" charset="0"/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296084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A6D441-595C-D998-DDEE-434ED0404E0D}"/>
                  </a:ext>
                </a:extLst>
              </p:cNvPr>
              <p:cNvSpPr txBox="1"/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𝑓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𝑘𝑅</m:t>
                    </m:r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𝑘𝑅</m:t>
                    </m:r>
                    <m:acc>
                      <m:accPr>
                        <m:chr m:val="̇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accPr>
                      <m:e>
                        <m:r>
                          <a:rPr lang="zh-CN" altLang="en-US" sz="2400" b="0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𝜃</m:t>
                        </m:r>
                      </m:e>
                    </m:acc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A6D441-595C-D998-DDEE-434ED0404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blipFill>
                <a:blip r:embed="rId3"/>
                <a:stretch>
                  <a:fillRect l="-247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/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𝐼</m:t>
                      </m:r>
                      <m:acc>
                        <m:accPr>
                          <m:chr m:val="̈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𝜃</m:t>
                          </m:r>
                        </m:e>
                      </m:acc>
                      <m:r>
                        <a:rPr lang="en-US" altLang="zh-CN" sz="2800" b="0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𝑊𝑅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𝑓𝑅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𝐹𝑅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/>
              <p:nvPr/>
            </p:nvSpPr>
            <p:spPr>
              <a:xfrm>
                <a:off x="-832580" y="2355881"/>
                <a:ext cx="10512000" cy="11498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altLang="zh-CN" sz="28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𝜽</m:t>
                          </m:r>
                        </m:e>
                      </m:acc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+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𝒌</m:t>
                          </m:r>
                          <m:sSup>
                            <m:sSup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𝑰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altLang="zh-CN" sz="2800" b="1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1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𝜽</m:t>
                          </m:r>
                        </m:e>
                      </m:acc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𝒎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−</m:t>
                              </m:r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𝝆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𝑽</m:t>
                              </m:r>
                            </m:e>
                          </m:d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𝒈𝑹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𝑰</m:t>
                          </m:r>
                        </m:den>
                      </m:f>
                      <m:r>
                        <a:rPr lang="zh-CN" altLang="en-US" sz="28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𝜽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𝟎</m:t>
                      </m:r>
                    </m:oMath>
                  </m:oMathPara>
                </a14:m>
                <a:endParaRPr lang="en-US" sz="2800" dirty="0"/>
              </a:p>
              <a:p>
                <a:pPr algn="ctr"/>
                <a:endParaRPr lang="en-US" sz="1200" b="1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微软雅黑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2580" y="2355881"/>
                <a:ext cx="10512000" cy="11498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26E1ED6-5A2E-6598-66F8-73CF83C0C533}"/>
              </a:ext>
            </a:extLst>
          </p:cNvPr>
          <p:cNvSpPr txBox="1"/>
          <p:nvPr/>
        </p:nvSpPr>
        <p:spPr>
          <a:xfrm>
            <a:off x="-684000" y="3293376"/>
            <a:ext cx="1051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/>
              <a:t>Homogeneous second-order </a:t>
            </a:r>
          </a:p>
          <a:p>
            <a:pPr algn="ctr"/>
            <a:r>
              <a:rPr lang="en-US" sz="2800" dirty="0"/>
              <a:t>linear ordinary differential equation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+mn-lt"/>
                <a:ea typeface="微软雅黑"/>
                <a:cs typeface="Times New Roman" panose="02020603050405020304" pitchFamily="18" charset="0"/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445028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/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𝐼</m:t>
                      </m:r>
                      <m:acc>
                        <m:accPr>
                          <m:chr m:val="̈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𝜃</m:t>
                          </m:r>
                        </m:e>
                      </m:acc>
                      <m:r>
                        <a:rPr lang="en-US" altLang="zh-CN" sz="2800" b="0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𝑊𝑅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𝑓𝑅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𝐹𝑅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/>
              <p:nvPr/>
            </p:nvSpPr>
            <p:spPr>
              <a:xfrm>
                <a:off x="1008000" y="2499881"/>
                <a:ext cx="7128000" cy="1800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𝜽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𝒄</m:t>
                      </m:r>
                      <m:sSup>
                        <m:sSupPr>
                          <m:ctrlP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  <m:t>𝒆</m:t>
                          </m:r>
                        </m:e>
                        <m:sup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+mn-lt"/>
                                </a:rPr>
                                <m:t>𝒌</m:t>
                              </m:r>
                              <m:sSup>
                                <m:sSupPr>
                                  <m:ctrlPr>
                                    <a:rPr lang="en-US" altLang="zh-CN" sz="28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zh-CN" sz="28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+mn-lt"/>
                                </a:rPr>
                                <m:t>𝑰</m:t>
                              </m:r>
                            </m:den>
                          </m:f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  <m:t>𝒕</m:t>
                          </m:r>
                        </m:sup>
                      </m:sSup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+mn-lt"/>
                        </a:rPr>
                        <m:t>𝒄𝒐𝒔</m:t>
                      </m:r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+mn-lt"/>
                        </a:rPr>
                        <m:t>(</m:t>
                      </m:r>
                      <m:f>
                        <m:fPr>
                          <m:ctrlP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sz="2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  <m:t>𝟒</m:t>
                                  </m:r>
                                  <m:d>
                                    <m:dPr>
                                      <m:ctrlP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𝒎𝒈</m:t>
                                      </m:r>
                                      <m: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−</m:t>
                                      </m:r>
                                      <m:r>
                                        <a:rPr lang="zh-CN" altLang="en-US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𝝆</m:t>
                                      </m:r>
                                      <m: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𝒈𝑽</m:t>
                                      </m:r>
                                    </m:e>
                                  </m:d>
                                  <m:r>
                                    <a:rPr lang="en-US" altLang="zh-CN" sz="2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  <m:t>𝑹</m:t>
                                  </m:r>
                                </m:num>
                                <m:den>
                                  <m:r>
                                    <a:rPr lang="en-US" altLang="zh-CN" sz="2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  <m:t>𝑰</m:t>
                                  </m:r>
                                </m:den>
                              </m:f>
                              <m:r>
                                <a:rPr lang="en-US" altLang="zh-CN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+mn-lt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𝒌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𝟒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𝑰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num>
                        <m:den>
                          <m:r>
                            <a:rPr lang="en-US" altLang="zh-C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  <m:t>𝟐</m:t>
                          </m:r>
                        </m:den>
                      </m:f>
                      <m:r>
                        <a:rPr lang="en-US" altLang="zh-C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+mn-lt"/>
                        </a:rPr>
                        <m:t>𝒕</m:t>
                      </m:r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000" y="2499881"/>
                <a:ext cx="7128000" cy="1800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3F6CF10-E0D4-A713-8DF6-5043687F3284}"/>
              </a:ext>
            </a:extLst>
          </p:cNvPr>
          <p:cNvSpPr txBox="1"/>
          <p:nvPr/>
        </p:nvSpPr>
        <p:spPr>
          <a:xfrm>
            <a:off x="684000" y="5017088"/>
            <a:ext cx="2736000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dirty="0"/>
              <a:t>Oct. 18th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FD4DBB-74F8-92AF-65EE-6AE56665CDE7}"/>
                  </a:ext>
                </a:extLst>
              </p:cNvPr>
              <p:cNvSpPr txBox="1"/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𝑓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𝑘𝑅</m:t>
                    </m:r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𝑘𝑅</m:t>
                    </m:r>
                    <m:acc>
                      <m:accPr>
                        <m:chr m:val="̇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accPr>
                      <m:e>
                        <m:r>
                          <a:rPr lang="zh-CN" altLang="en-US" sz="2400" b="0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𝜃</m:t>
                        </m:r>
                      </m:e>
                    </m:acc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FD4DBB-74F8-92AF-65EE-6AE56665C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blipFill>
                <a:blip r:embed="rId5"/>
                <a:stretch>
                  <a:fillRect l="-247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8E4BAA-9D40-15C9-A28A-C33CBF61D06C}"/>
                  </a:ext>
                </a:extLst>
              </p:cNvPr>
              <p:cNvSpPr txBox="1"/>
              <p:nvPr/>
            </p:nvSpPr>
            <p:spPr>
              <a:xfrm>
                <a:off x="1008000" y="3600534"/>
                <a:ext cx="7128000" cy="1800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+mn-lt"/>
                        </a:rPr>
                        <m:t>𝝎</m:t>
                      </m:r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  <m:t>𝟒</m:t>
                                  </m:r>
                                  <m:d>
                                    <m:dPr>
                                      <m:ctrlP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𝒎𝒈</m:t>
                                      </m:r>
                                      <m: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−</m:t>
                                      </m:r>
                                      <m:r>
                                        <a:rPr lang="zh-CN" altLang="en-US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𝝆</m:t>
                                      </m:r>
                                      <m: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𝒈𝑽</m:t>
                                      </m:r>
                                    </m:e>
                                  </m:d>
                                  <m:r>
                                    <a:rPr lang="en-US" altLang="zh-CN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  <m:t>𝑹</m:t>
                                  </m:r>
                                </m:num>
                                <m:den>
                                  <m:r>
                                    <a:rPr lang="en-US" altLang="zh-CN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  <m:t>𝑰</m:t>
                                  </m:r>
                                </m:den>
                              </m:f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+mn-lt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+mn-lt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𝒌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𝟒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𝑰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  <a:sym typeface="+mn-lt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num>
                        <m:den>
                          <m:r>
                            <a:rPr lang="en-US" altLang="zh-C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+mn-lt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8E4BAA-9D40-15C9-A28A-C33CBF61D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000" y="3600534"/>
                <a:ext cx="7128000" cy="1800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568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/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𝐼</m:t>
                      </m:r>
                      <m:acc>
                        <m:accPr>
                          <m:chr m:val="̈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𝜃</m:t>
                          </m:r>
                        </m:e>
                      </m:acc>
                      <m:r>
                        <a:rPr lang="en-US" altLang="zh-CN" sz="2800" b="0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𝑊𝑅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𝑓𝑅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𝐹𝑅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E730F-BF53-5D11-79D0-45A69A08CFC0}"/>
                  </a:ext>
                </a:extLst>
              </p:cNvPr>
              <p:cNvSpPr txBox="1"/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𝒇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𝒌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zh-CN" alt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𝝎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𝒌</m:t>
                    </m:r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微软雅黑"/>
                                <a:cs typeface="Times New Roman" panose="02020603050405020304" pitchFamily="18" charset="0"/>
                                <a:sym typeface="+mn-lt"/>
                              </a:rPr>
                            </m:ctrlPr>
                          </m:acc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  <a:ea typeface="微软雅黑"/>
                                <a:cs typeface="Times New Roman" panose="02020603050405020304" pitchFamily="18" charset="0"/>
                                <a:sym typeface="+mn-lt"/>
                              </a:rPr>
                              <m:t>𝜽</m:t>
                            </m:r>
                          </m:e>
                        </m:acc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4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E730F-BF53-5D11-79D0-45A69A08C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blipFill>
                <a:blip r:embed="rId4"/>
                <a:stretch>
                  <a:fillRect l="-247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/>
              <p:nvPr/>
            </p:nvSpPr>
            <p:spPr>
              <a:xfrm>
                <a:off x="-684000" y="2544260"/>
                <a:ext cx="10512000" cy="965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altLang="zh-CN" sz="28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𝜽</m:t>
                          </m:r>
                        </m:e>
                      </m:acc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+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𝒌</m:t>
                          </m:r>
                          <m:sSup>
                            <m:sSup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𝑰</m:t>
                          </m:r>
                        </m:den>
                      </m:f>
                      <m:sSup>
                        <m:sSupPr>
                          <m:ctrlPr>
                            <a:rPr lang="en-US" altLang="zh-CN" sz="28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800" b="1" i="1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accPr>
                            <m:e>
                              <m:r>
                                <a:rPr lang="zh-CN" altLang="en-US" sz="2800" b="1" i="1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𝜽</m:t>
                              </m:r>
                            </m:e>
                          </m:acc>
                        </m:e>
                        <m:sup>
                          <m:r>
                            <a:rPr lang="en-US" altLang="zh-CN" sz="28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𝒎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−</m:t>
                              </m:r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𝝆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𝑽</m:t>
                              </m:r>
                            </m:e>
                          </m:d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𝒈𝑹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𝑰</m:t>
                          </m:r>
                        </m:den>
                      </m:f>
                      <m:r>
                        <a:rPr lang="zh-CN" altLang="en-US" sz="28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𝜽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𝟎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000" y="2544260"/>
                <a:ext cx="10512000" cy="965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E6C86A-7D16-D9AA-E550-A70BBD9B63EE}"/>
                  </a:ext>
                </a:extLst>
              </p:cNvPr>
              <p:cNvSpPr txBox="1"/>
              <p:nvPr/>
            </p:nvSpPr>
            <p:spPr>
              <a:xfrm>
                <a:off x="1687500" y="3677862"/>
                <a:ext cx="5769000" cy="822726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C00000"/>
                  </a:buClr>
                </a:pPr>
                <a:r>
                  <a:rPr lang="en-US" sz="2400" i="1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ⅆ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ⅆ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accPr>
                      <m:e>
                        <m:r>
                          <a:rPr lang="zh-CN" alt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𝜃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f>
                      <m:f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</m:e>
                          <m:sup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sSup>
                          <m:sSupPr>
                            <m:ctrlPr>
                              <a:rPr lang="en-US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E6C86A-7D16-D9AA-E550-A70BBD9B6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500" y="3677862"/>
                <a:ext cx="5769000" cy="822726"/>
              </a:xfrm>
              <a:prstGeom prst="rect">
                <a:avLst/>
              </a:prstGeom>
              <a:blipFill>
                <a:blip r:embed="rId6"/>
                <a:stretch>
                  <a:fillRect l="-169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75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/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𝐼</m:t>
                      </m:r>
                      <m:acc>
                        <m:accPr>
                          <m:chr m:val="̈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𝜃</m:t>
                          </m:r>
                        </m:e>
                      </m:acc>
                      <m:r>
                        <a:rPr lang="en-US" altLang="zh-CN" sz="2800" b="0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𝑊𝑅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𝑓𝑅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𝐹𝑅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E730F-BF53-5D11-79D0-45A69A08CFC0}"/>
                  </a:ext>
                </a:extLst>
              </p:cNvPr>
              <p:cNvSpPr txBox="1"/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𝒇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𝒌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zh-CN" alt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𝝎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𝒌</m:t>
                    </m:r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微软雅黑"/>
                                <a:cs typeface="Times New Roman" panose="02020603050405020304" pitchFamily="18" charset="0"/>
                                <a:sym typeface="+mn-lt"/>
                              </a:rPr>
                            </m:ctrlPr>
                          </m:acc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  <a:ea typeface="微软雅黑"/>
                                <a:cs typeface="Times New Roman" panose="02020603050405020304" pitchFamily="18" charset="0"/>
                                <a:sym typeface="+mn-lt"/>
                              </a:rPr>
                              <m:t>𝜽</m:t>
                            </m:r>
                          </m:e>
                        </m:acc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4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E730F-BF53-5D11-79D0-45A69A08C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blipFill>
                <a:blip r:embed="rId4"/>
                <a:stretch>
                  <a:fillRect l="-247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/>
              <p:nvPr/>
            </p:nvSpPr>
            <p:spPr>
              <a:xfrm>
                <a:off x="-684000" y="2544260"/>
                <a:ext cx="10512000" cy="965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𝒙</m:t>
                          </m:r>
                        </m:e>
                      </m:acc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+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𝒌</m:t>
                          </m:r>
                          <m:sSup>
                            <m:sSup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𝑰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𝒎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−</m:t>
                              </m:r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𝝆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微软雅黑"/>
                                  <a:cs typeface="Times New Roman" panose="02020603050405020304" pitchFamily="18" charset="0"/>
                                  <a:sym typeface="+mn-lt"/>
                                </a:rPr>
                                <m:t>𝑽</m:t>
                              </m:r>
                            </m:e>
                          </m:d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𝒈𝑹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𝑰</m:t>
                          </m:r>
                        </m:den>
                      </m:f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𝜽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𝟎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000" y="2544260"/>
                <a:ext cx="10512000" cy="965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378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732FAC-9F9B-E28D-EFAE-B975B46DD808}"/>
                  </a:ext>
                </a:extLst>
              </p:cNvPr>
              <p:cNvSpPr txBox="1"/>
              <p:nvPr/>
            </p:nvSpPr>
            <p:spPr>
              <a:xfrm>
                <a:off x="667754" y="1635881"/>
                <a:ext cx="7720246" cy="1527662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  <a:buClr>
                    <a:srgbClr val="C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800" b="1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ad>
                        <m:radPr>
                          <m:degHide m:val="on"/>
                          <m:ctrlPr>
                            <a:rPr lang="en-US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p>
                                  <m:r>
                                    <a:rPr lang="en-US" sz="2800" b="1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d>
                                <m:dPr>
                                  <m:ctrlPr>
                                    <a:rPr lang="en-US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2800" b="1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𝝆</m:t>
                                  </m:r>
                                  <m:r>
                                    <a:rPr lang="en-US" sz="28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</m:d>
                              <m:r>
                                <a:rPr lang="en-US" sz="2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sz="2800" b="1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US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800" b="1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p>
                                      <m:r>
                                        <a:rPr lang="en-US" sz="2800" b="1" i="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8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sz="2800" b="1" i="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rad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𝒌𝒗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732FAC-9F9B-E28D-EFAE-B975B46DD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54" y="1635881"/>
                <a:ext cx="7720246" cy="15276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417CFF-BC4D-5914-AE1C-0A15DBDBF004}"/>
                  </a:ext>
                </a:extLst>
              </p:cNvPr>
              <p:cNvSpPr txBox="1"/>
              <p:nvPr/>
            </p:nvSpPr>
            <p:spPr>
              <a:xfrm>
                <a:off x="233906" y="3075881"/>
                <a:ext cx="8676185" cy="1527662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C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ad>
                        <m:radPr>
                          <m:degHide m:val="on"/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p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sSup>
                                    <m:sSupPr>
                                      <m:ctrlP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sz="2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𝝆</m:t>
                                  </m:r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sSup>
                                    <m:sSupPr>
                                      <m:ctrlPr>
                                        <a:rPr lang="en-US" sz="2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sz="2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p>
                                  </m:sSup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den>
                          </m:f>
                        </m:e>
                      </m:rad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417CFF-BC4D-5914-AE1C-0A15DBDBF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06" y="3075881"/>
                <a:ext cx="8676185" cy="15276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A9565FE-1BD4-19B6-A2AC-E3A35EED2722}"/>
              </a:ext>
            </a:extLst>
          </p:cNvPr>
          <p:cNvSpPr txBox="1"/>
          <p:nvPr/>
        </p:nvSpPr>
        <p:spPr>
          <a:xfrm>
            <a:off x="684000" y="5017088"/>
            <a:ext cx="2736000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dirty="0"/>
              <a:t>Oct. 25th</a:t>
            </a:r>
          </a:p>
        </p:txBody>
      </p:sp>
    </p:spTree>
    <p:extLst>
      <p:ext uri="{BB962C8B-B14F-4D97-AF65-F5344CB8AC3E}">
        <p14:creationId xmlns:p14="http://schemas.microsoft.com/office/powerpoint/2010/main" val="619132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82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B61E77-414C-89B7-E110-CCF9CCAD7092}"/>
              </a:ext>
            </a:extLst>
          </p:cNvPr>
          <p:cNvSpPr txBox="1"/>
          <p:nvPr/>
        </p:nvSpPr>
        <p:spPr>
          <a:xfrm>
            <a:off x="684000" y="5017088"/>
            <a:ext cx="2736000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dirty="0"/>
              <a:t>Oct. 10th</a:t>
            </a:r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4ECF6D4F-2345-9DDB-2AE4-BB3E85395230}"/>
              </a:ext>
            </a:extLst>
          </p:cNvPr>
          <p:cNvSpPr txBox="1"/>
          <p:nvPr/>
        </p:nvSpPr>
        <p:spPr>
          <a:xfrm>
            <a:off x="756000" y="2495573"/>
            <a:ext cx="7632000" cy="2147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Small angles can occur in air damping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[2]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Same in liquid? 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Bigger damping force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04861" y="1554368"/>
            <a:ext cx="3744000" cy="1039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Big 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angles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?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Directly 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proportional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? </a:t>
            </a: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ECC03DD7-DB2D-76FB-32B0-51448824A6B7}"/>
              </a:ext>
            </a:extLst>
          </p:cNvPr>
          <p:cNvSpPr txBox="1"/>
          <p:nvPr/>
        </p:nvSpPr>
        <p:spPr>
          <a:xfrm>
            <a:off x="4731138" y="1554368"/>
            <a:ext cx="3708000" cy="15935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Small 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angles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?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Squared 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proportional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?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851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AF410028-5CCD-EF4B-6F9E-775CDA97CCFB}"/>
              </a:ext>
            </a:extLst>
          </p:cNvPr>
          <p:cNvSpPr txBox="1"/>
          <p:nvPr/>
        </p:nvSpPr>
        <p:spPr>
          <a:xfrm>
            <a:off x="684000" y="299957"/>
            <a:ext cx="5040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PROGRESS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8EF95F-72B0-EBA1-28EF-F86D81EE121D}"/>
              </a:ext>
            </a:extLst>
          </p:cNvPr>
          <p:cNvSpPr/>
          <p:nvPr/>
        </p:nvSpPr>
        <p:spPr>
          <a:xfrm>
            <a:off x="7782806" y="2350597"/>
            <a:ext cx="292120" cy="2813284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914C4C-0CBE-446A-765A-69298DEBEE5A}"/>
              </a:ext>
            </a:extLst>
          </p:cNvPr>
          <p:cNvSpPr/>
          <p:nvPr/>
        </p:nvSpPr>
        <p:spPr>
          <a:xfrm rot="1512617">
            <a:off x="7928401" y="27002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C14144-9036-5F25-1730-E250ED965C6D}"/>
              </a:ext>
            </a:extLst>
          </p:cNvPr>
          <p:cNvCxnSpPr>
            <a:cxnSpLocks/>
          </p:cNvCxnSpPr>
          <p:nvPr/>
        </p:nvCxnSpPr>
        <p:spPr>
          <a:xfrm rot="1512617">
            <a:off x="7699454" y="3727559"/>
            <a:ext cx="4012" cy="9808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50A603-D986-1902-245E-5DE7A0D03370}"/>
              </a:ext>
            </a:extLst>
          </p:cNvPr>
          <p:cNvCxnSpPr>
            <a:cxnSpLocks/>
          </p:cNvCxnSpPr>
          <p:nvPr/>
        </p:nvCxnSpPr>
        <p:spPr>
          <a:xfrm rot="1512617" flipV="1">
            <a:off x="8092758" y="3063362"/>
            <a:ext cx="0" cy="71243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A989BED-BDBF-4719-D90A-47A19A188677}"/>
              </a:ext>
            </a:extLst>
          </p:cNvPr>
          <p:cNvSpPr txBox="1"/>
          <p:nvPr/>
        </p:nvSpPr>
        <p:spPr>
          <a:xfrm rot="21523005">
            <a:off x="8244184" y="2828893"/>
            <a:ext cx="355052" cy="4294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6A8961-3DE6-3F47-2C63-B02843FE829F}"/>
              </a:ext>
            </a:extLst>
          </p:cNvPr>
          <p:cNvCxnSpPr>
            <a:cxnSpLocks/>
            <a:stCxn id="9" idx="7"/>
          </p:cNvCxnSpPr>
          <p:nvPr/>
        </p:nvCxnSpPr>
        <p:spPr>
          <a:xfrm flipH="1" flipV="1">
            <a:off x="7403888" y="3752510"/>
            <a:ext cx="544807" cy="35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3E63DF-CB32-4DF0-2B92-2671785F6B6B}"/>
              </a:ext>
            </a:extLst>
          </p:cNvPr>
          <p:cNvSpPr/>
          <p:nvPr/>
        </p:nvSpPr>
        <p:spPr>
          <a:xfrm rot="1512617">
            <a:off x="7904326" y="37377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83F1D3-0F3B-E1A6-A8D5-133E8B52A9D1}"/>
              </a:ext>
            </a:extLst>
          </p:cNvPr>
          <p:cNvSpPr txBox="1"/>
          <p:nvPr/>
        </p:nvSpPr>
        <p:spPr>
          <a:xfrm rot="14401">
            <a:off x="7094873" y="4573491"/>
            <a:ext cx="458281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75FBF-3697-3E2A-7F44-0E4228A5291C}"/>
              </a:ext>
            </a:extLst>
          </p:cNvPr>
          <p:cNvSpPr txBox="1"/>
          <p:nvPr/>
        </p:nvSpPr>
        <p:spPr>
          <a:xfrm rot="14401">
            <a:off x="7094872" y="3562419"/>
            <a:ext cx="458281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08CF9F-B80C-57A3-BFFA-3F82F8BDE8DF}"/>
              </a:ext>
            </a:extLst>
          </p:cNvPr>
          <p:cNvCxnSpPr>
            <a:cxnSpLocks/>
          </p:cNvCxnSpPr>
          <p:nvPr/>
        </p:nvCxnSpPr>
        <p:spPr>
          <a:xfrm flipH="1">
            <a:off x="7936537" y="2754748"/>
            <a:ext cx="5627" cy="94284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D4E676-C9B4-84E5-604B-BD5E5C3485DE}"/>
              </a:ext>
            </a:extLst>
          </p:cNvPr>
          <p:cNvSpPr txBox="1"/>
          <p:nvPr/>
        </p:nvSpPr>
        <p:spPr>
          <a:xfrm rot="21523005">
            <a:off x="7702380" y="2986012"/>
            <a:ext cx="355052" cy="4294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/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𝐼</m:t>
                      </m:r>
                      <m:acc>
                        <m:accPr>
                          <m:chr m:val="̈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𝜃</m:t>
                          </m:r>
                        </m:e>
                      </m:acc>
                      <m:r>
                        <a:rPr lang="en-US" altLang="zh-CN" sz="2800" b="0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𝑊𝑅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𝑓𝑅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𝐹𝑅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F9950E-97E2-71A3-BB46-DE251B944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1219175"/>
                <a:ext cx="6498000" cy="1007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E730F-BF53-5D11-79D0-45A69A08CFC0}"/>
                  </a:ext>
                </a:extLst>
              </p:cNvPr>
              <p:cNvSpPr txBox="1"/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𝑓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𝑘𝑅</m:t>
                    </m:r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𝑘𝑅</m:t>
                    </m:r>
                    <m:acc>
                      <m:accPr>
                        <m:chr m:val="̇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accPr>
                      <m:e>
                        <m:r>
                          <a:rPr lang="zh-CN" altLang="en-US" sz="2400" b="0" i="1"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  <m:t>𝜃</m:t>
                        </m:r>
                      </m:e>
                    </m:acc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E730F-BF53-5D11-79D0-45A69A08C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20" y="1875690"/>
                <a:ext cx="7632000" cy="504497"/>
              </a:xfrm>
              <a:prstGeom prst="rect">
                <a:avLst/>
              </a:prstGeom>
              <a:blipFill>
                <a:blip r:embed="rId4"/>
                <a:stretch>
                  <a:fillRect l="-247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/>
              <p:nvPr/>
            </p:nvSpPr>
            <p:spPr>
              <a:xfrm>
                <a:off x="1323000" y="2379514"/>
                <a:ext cx="6498000" cy="990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𝐼</m:t>
                      </m:r>
                      <m:acc>
                        <m:accPr>
                          <m:chr m:val="̈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𝜃</m:t>
                          </m:r>
                        </m:e>
                      </m:acc>
                      <m:r>
                        <a:rPr lang="en-US" altLang="zh-CN" sz="2800" b="0" i="1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=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𝑚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−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𝜌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𝑉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𝑔𝑅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/>
                          <a:cs typeface="Times New Roman" panose="02020603050405020304" pitchFamily="18" charset="0"/>
                          <a:sym typeface="+mn-lt"/>
                        </a:rPr>
                        <m:t>𝑘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</m:ctrlPr>
                        </m:acc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微软雅黑"/>
                              <a:cs typeface="Times New Roman" panose="02020603050405020304" pitchFamily="18" charset="0"/>
                              <a:sym typeface="+mn-lt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0DC03-BB54-515C-0C33-51BF0D30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000" y="2379514"/>
                <a:ext cx="6498000" cy="9909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5B274D-98BB-D807-A6E3-A2423AA1FD78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H="1">
            <a:off x="7928866" y="3739926"/>
            <a:ext cx="8057" cy="14239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c 37">
            <a:extLst>
              <a:ext uri="{FF2B5EF4-FFF2-40B4-BE49-F238E27FC236}">
                <a16:creationId xmlns:a16="http://schemas.microsoft.com/office/drawing/2014/main" id="{C9055166-BA87-EAB0-57C2-B28E8FA30D07}"/>
              </a:ext>
            </a:extLst>
          </p:cNvPr>
          <p:cNvSpPr/>
          <p:nvPr/>
        </p:nvSpPr>
        <p:spPr>
          <a:xfrm rot="10629851">
            <a:off x="7848361" y="3906193"/>
            <a:ext cx="176351" cy="8204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122DA3-72C3-3C65-0E4C-4DA84458C495}"/>
              </a:ext>
            </a:extLst>
          </p:cNvPr>
          <p:cNvSpPr txBox="1"/>
          <p:nvPr/>
        </p:nvSpPr>
        <p:spPr>
          <a:xfrm>
            <a:off x="7731984" y="3926105"/>
            <a:ext cx="872016" cy="29360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l-GR" sz="1200" b="1" i="1" dirty="0"/>
              <a:t>θ</a:t>
            </a:r>
            <a:endParaRPr lang="en-US" sz="12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0EB30F-9A56-F43A-1279-2FEB2B1D804E}"/>
                  </a:ext>
                </a:extLst>
              </p:cNvPr>
              <p:cNvSpPr txBox="1"/>
              <p:nvPr/>
            </p:nvSpPr>
            <p:spPr>
              <a:xfrm>
                <a:off x="1203011" y="3339576"/>
                <a:ext cx="4236994" cy="536622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  <a:buClr>
                    <a:srgbClr val="C00000"/>
                  </a:buClr>
                </a:pPr>
                <a:r>
                  <a:rPr lang="en-US" sz="3200" b="1" u="sng" dirty="0">
                    <a:solidFill>
                      <a:srgbClr val="FF0000"/>
                    </a:solidFill>
                  </a:rPr>
                  <a:t>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0" u="sng" smtClean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𝛉</m:t>
                        </m:r>
                        <m:r>
                          <a:rPr lang="en-US" sz="3200" b="1" i="0" u="sng" smtClean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≪</m:t>
                        </m:r>
                        <m:r>
                          <a:rPr lang="en-US" sz="3200" b="1" i="0" u="sng" smtClean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3200" b="1" i="0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3200" b="1" i="0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US" sz="3200" b="1" i="0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𝛉</m:t>
                        </m:r>
                      </m:e>
                    </m:func>
                    <m:r>
                      <a:rPr lang="en-US" sz="3200" b="1" i="0" u="sng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3200" b="1" i="0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sz="1200" b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微软雅黑"/>
                    <a:cs typeface="Times New Roman" panose="02020603050405020304" pitchFamily="18" charset="0"/>
                  </a:rPr>
                  <a:t>[3]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0EB30F-9A56-F43A-1279-2FEB2B1D8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011" y="3339576"/>
                <a:ext cx="4236994" cy="536622"/>
              </a:xfrm>
              <a:prstGeom prst="rect">
                <a:avLst/>
              </a:prstGeom>
              <a:blipFill>
                <a:blip r:embed="rId6"/>
                <a:stretch>
                  <a:fillRect l="-5755" t="-15909" b="-44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242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82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56000" y="1419881"/>
            <a:ext cx="7632000" cy="2332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 </a:t>
            </a: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ROUGH</a:t>
            </a:r>
            <a:r>
              <a:rPr lang="en-US" altLang="zh-CN" sz="32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EXPERIMENT</a:t>
            </a:r>
          </a:p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Does not need to verify the formula’s correctness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Does need to verify 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small angle is observable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B61E77-414C-89B7-E110-CCF9CCAD7092}"/>
              </a:ext>
            </a:extLst>
          </p:cNvPr>
          <p:cNvSpPr txBox="1"/>
          <p:nvPr/>
        </p:nvSpPr>
        <p:spPr>
          <a:xfrm>
            <a:off x="684000" y="5017088"/>
            <a:ext cx="2736000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dirty="0"/>
              <a:t>Nov. 10th</a:t>
            </a:r>
          </a:p>
        </p:txBody>
      </p:sp>
    </p:spTree>
    <p:extLst>
      <p:ext uri="{BB962C8B-B14F-4D97-AF65-F5344CB8AC3E}">
        <p14:creationId xmlns:p14="http://schemas.microsoft.com/office/powerpoint/2010/main" val="246804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82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B61E77-414C-89B7-E110-CCF9CCAD7092}"/>
              </a:ext>
            </a:extLst>
          </p:cNvPr>
          <p:cNvSpPr txBox="1"/>
          <p:nvPr/>
        </p:nvSpPr>
        <p:spPr>
          <a:xfrm>
            <a:off x="684000" y="5017088"/>
            <a:ext cx="2736000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dirty="0"/>
              <a:t>Nov. 19th</a:t>
            </a:r>
          </a:p>
        </p:txBody>
      </p:sp>
      <p:pic>
        <p:nvPicPr>
          <p:cNvPr id="8" name="Picture 7" descr="A glass container with liquid in it&#10;&#10;Description automatically generated">
            <a:extLst>
              <a:ext uri="{FF2B5EF4-FFF2-40B4-BE49-F238E27FC236}">
                <a16:creationId xmlns:a16="http://schemas.microsoft.com/office/drawing/2014/main" id="{DA3FF317-BA0A-1E41-BE46-1F21E2ED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07" b="12285"/>
          <a:stretch/>
        </p:blipFill>
        <p:spPr>
          <a:xfrm>
            <a:off x="540000" y="1203881"/>
            <a:ext cx="2428808" cy="35798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7CC148F9-F700-38CE-8491-26050F093B4C}"/>
              </a:ext>
            </a:extLst>
          </p:cNvPr>
          <p:cNvSpPr/>
          <p:nvPr/>
        </p:nvSpPr>
        <p:spPr>
          <a:xfrm>
            <a:off x="4981722" y="1451317"/>
            <a:ext cx="52551" cy="647998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E6DD6CB-8C31-54E8-B23B-32E499043832}"/>
              </a:ext>
            </a:extLst>
          </p:cNvPr>
          <p:cNvGrpSpPr/>
          <p:nvPr/>
        </p:nvGrpSpPr>
        <p:grpSpPr>
          <a:xfrm>
            <a:off x="4339410" y="1975763"/>
            <a:ext cx="1344006" cy="2808000"/>
            <a:chOff x="4572000" y="1973119"/>
            <a:chExt cx="2016000" cy="280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1BF133-F368-876E-A276-EB09386AFD5C}"/>
                </a:ext>
              </a:extLst>
            </p:cNvPr>
            <p:cNvSpPr/>
            <p:nvPr/>
          </p:nvSpPr>
          <p:spPr>
            <a:xfrm>
              <a:off x="4572000" y="2889374"/>
              <a:ext cx="2015991" cy="189174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6916DC7-F311-F3B6-6543-411D9F14337A}"/>
                </a:ext>
              </a:extLst>
            </p:cNvPr>
            <p:cNvGrpSpPr/>
            <p:nvPr/>
          </p:nvGrpSpPr>
          <p:grpSpPr>
            <a:xfrm>
              <a:off x="4572000" y="1973119"/>
              <a:ext cx="2016000" cy="2808000"/>
              <a:chOff x="4572000" y="1347881"/>
              <a:chExt cx="2016000" cy="28080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18E0B26-77CE-8094-1723-ABD1D1BF0DBD}"/>
                  </a:ext>
                </a:extLst>
              </p:cNvPr>
              <p:cNvCxnSpPr/>
              <p:nvPr/>
            </p:nvCxnSpPr>
            <p:spPr>
              <a:xfrm>
                <a:off x="4572000" y="1347881"/>
                <a:ext cx="0" cy="28080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195F946-551A-E1E8-9A34-5EDB956BC7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8000" y="1347881"/>
                <a:ext cx="0" cy="28080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A10DB2A-F71A-9783-5F4D-CF8BF53C48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000" y="4155881"/>
                <a:ext cx="201600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B7A958B-083C-770D-CBA1-26361C41D5C9}"/>
                </a:ext>
              </a:extLst>
            </p:cNvPr>
            <p:cNvSpPr/>
            <p:nvPr/>
          </p:nvSpPr>
          <p:spPr>
            <a:xfrm>
              <a:off x="4788000" y="2127316"/>
              <a:ext cx="1584000" cy="647998"/>
            </a:xfrm>
            <a:prstGeom prst="rect">
              <a:avLst/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D77D0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7D8828F-44B1-7C27-A2B9-6B328EC432DB}"/>
                </a:ext>
              </a:extLst>
            </p:cNvPr>
            <p:cNvCxnSpPr>
              <a:stCxn id="23" idx="2"/>
              <a:endCxn id="24" idx="2"/>
            </p:cNvCxnSpPr>
            <p:nvPr/>
          </p:nvCxnSpPr>
          <p:spPr>
            <a:xfrm>
              <a:off x="4815315" y="3282717"/>
              <a:ext cx="1529360" cy="0"/>
            </a:xfrm>
            <a:prstGeom prst="line">
              <a:avLst/>
            </a:prstGeom>
            <a:ln w="19050">
              <a:solidFill>
                <a:srgbClr val="C46A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666E99A-1843-4CC7-FCC8-607EB8D518FD}"/>
                </a:ext>
              </a:extLst>
            </p:cNvPr>
            <p:cNvSpPr/>
            <p:nvPr/>
          </p:nvSpPr>
          <p:spPr>
            <a:xfrm>
              <a:off x="5508000" y="2993822"/>
              <a:ext cx="143989" cy="16332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4EF00B5-BC48-D5E9-46E2-1CBC112F1832}"/>
                </a:ext>
              </a:extLst>
            </p:cNvPr>
            <p:cNvSpPr/>
            <p:nvPr/>
          </p:nvSpPr>
          <p:spPr>
            <a:xfrm>
              <a:off x="4792455" y="2787881"/>
              <a:ext cx="45719" cy="49483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250BB4-3714-51CE-E9BC-231C47F628C3}"/>
                </a:ext>
              </a:extLst>
            </p:cNvPr>
            <p:cNvSpPr/>
            <p:nvPr/>
          </p:nvSpPr>
          <p:spPr>
            <a:xfrm>
              <a:off x="6321815" y="2787881"/>
              <a:ext cx="45719" cy="49483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71C30ED-2F3B-6DC1-7704-DAA1D55EB2FF}"/>
              </a:ext>
            </a:extLst>
          </p:cNvPr>
          <p:cNvSpPr/>
          <p:nvPr/>
        </p:nvSpPr>
        <p:spPr>
          <a:xfrm>
            <a:off x="4832544" y="2096302"/>
            <a:ext cx="360000" cy="288000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2A20DB-B725-4EB5-E977-F05CA2C48755}"/>
              </a:ext>
            </a:extLst>
          </p:cNvPr>
          <p:cNvSpPr/>
          <p:nvPr/>
        </p:nvSpPr>
        <p:spPr>
          <a:xfrm rot="16200000">
            <a:off x="6225695" y="261823"/>
            <a:ext cx="45719" cy="3096002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A8F3D2-058B-DFBF-145B-FF86C4C6EBF8}"/>
              </a:ext>
            </a:extLst>
          </p:cNvPr>
          <p:cNvSpPr/>
          <p:nvPr/>
        </p:nvSpPr>
        <p:spPr>
          <a:xfrm>
            <a:off x="4940547" y="1691138"/>
            <a:ext cx="143989" cy="288000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Top Corners One Rounded and One Snipped 31">
            <a:extLst>
              <a:ext uri="{FF2B5EF4-FFF2-40B4-BE49-F238E27FC236}">
                <a16:creationId xmlns:a16="http://schemas.microsoft.com/office/drawing/2014/main" id="{0F4C3F26-0C38-C05D-3176-04A8327D124F}"/>
              </a:ext>
            </a:extLst>
          </p:cNvPr>
          <p:cNvSpPr/>
          <p:nvPr/>
        </p:nvSpPr>
        <p:spPr>
          <a:xfrm rot="10800000">
            <a:off x="7796555" y="1603733"/>
            <a:ext cx="98270" cy="985965"/>
          </a:xfrm>
          <a:prstGeom prst="snipRoundRect">
            <a:avLst>
              <a:gd name="adj1" fmla="val 0"/>
              <a:gd name="adj2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1D5D42-D3FB-AC80-3211-1779B83D7240}"/>
              </a:ext>
            </a:extLst>
          </p:cNvPr>
          <p:cNvSpPr txBox="1"/>
          <p:nvPr/>
        </p:nvSpPr>
        <p:spPr>
          <a:xfrm>
            <a:off x="4366113" y="4783759"/>
            <a:ext cx="1244882" cy="36061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tank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C6A387-F577-AFA6-4EF8-A3B55580704F}"/>
              </a:ext>
            </a:extLst>
          </p:cNvPr>
          <p:cNvSpPr txBox="1"/>
          <p:nvPr/>
        </p:nvSpPr>
        <p:spPr>
          <a:xfrm>
            <a:off x="6469004" y="1414704"/>
            <a:ext cx="1871999" cy="36061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Iron support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40FA43D-4615-5933-0B1D-C0655FE1D35C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5179404" y="3813083"/>
            <a:ext cx="11044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DFB5447-FF12-86E6-508C-2BB97912BA32}"/>
              </a:ext>
            </a:extLst>
          </p:cNvPr>
          <p:cNvSpPr txBox="1"/>
          <p:nvPr/>
        </p:nvSpPr>
        <p:spPr>
          <a:xfrm>
            <a:off x="6283812" y="3485044"/>
            <a:ext cx="2735997" cy="6560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Pendulum</a:t>
            </a:r>
          </a:p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(long screw)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1217B80-B969-49C8-5F75-E90693FB7BE7}"/>
              </a:ext>
            </a:extLst>
          </p:cNvPr>
          <p:cNvCxnSpPr>
            <a:cxnSpLocks/>
          </p:cNvCxnSpPr>
          <p:nvPr/>
        </p:nvCxnSpPr>
        <p:spPr>
          <a:xfrm>
            <a:off x="5599994" y="3285361"/>
            <a:ext cx="12480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C218A17-D2D2-0881-F360-E5187A39AF5F}"/>
              </a:ext>
            </a:extLst>
          </p:cNvPr>
          <p:cNvSpPr txBox="1"/>
          <p:nvPr/>
        </p:nvSpPr>
        <p:spPr>
          <a:xfrm>
            <a:off x="6876003" y="3037943"/>
            <a:ext cx="2735997" cy="36202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Axes (copper wire)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96BD86-62E2-FBE9-212F-2FFCE3D3C664}"/>
              </a:ext>
            </a:extLst>
          </p:cNvPr>
          <p:cNvSpPr txBox="1"/>
          <p:nvPr/>
        </p:nvSpPr>
        <p:spPr>
          <a:xfrm>
            <a:off x="-396000" y="4798000"/>
            <a:ext cx="6336000" cy="3270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>
                <a:srgbClr val="C00000"/>
              </a:buClr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7.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226B2-E4A6-8831-8BCA-21BBE9D19FDD}"/>
              </a:ext>
            </a:extLst>
          </p:cNvPr>
          <p:cNvSpPr txBox="1"/>
          <p:nvPr/>
        </p:nvSpPr>
        <p:spPr>
          <a:xfrm>
            <a:off x="3301004" y="4786283"/>
            <a:ext cx="6336000" cy="3270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>
                <a:srgbClr val="C00000"/>
              </a:buClr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8.</a:t>
            </a:r>
          </a:p>
        </p:txBody>
      </p:sp>
    </p:spTree>
    <p:extLst>
      <p:ext uri="{BB962C8B-B14F-4D97-AF65-F5344CB8AC3E}">
        <p14:creationId xmlns:p14="http://schemas.microsoft.com/office/powerpoint/2010/main" val="629903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82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72322F83-0DFC-4FDE-C591-DC1834C093E0}"/>
              </a:ext>
            </a:extLst>
          </p:cNvPr>
          <p:cNvSpPr txBox="1"/>
          <p:nvPr/>
        </p:nvSpPr>
        <p:spPr>
          <a:xfrm>
            <a:off x="756000" y="1419881"/>
            <a:ext cx="8136000" cy="30708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Data Collection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Use phone camera – slow motion mode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Did it for four times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Use frame counter to calculate time in tiny units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zh-CN" sz="1600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1 frame = 1 / 240 second</a:t>
            </a:r>
            <a:endParaRPr lang="en-US" altLang="zh-CN" sz="1600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Sum up and calculate average value</a:t>
            </a:r>
          </a:p>
        </p:txBody>
      </p:sp>
    </p:spTree>
    <p:extLst>
      <p:ext uri="{BB962C8B-B14F-4D97-AF65-F5344CB8AC3E}">
        <p14:creationId xmlns:p14="http://schemas.microsoft.com/office/powerpoint/2010/main" val="24156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7F689E-44C0-3BC8-F738-31A795AE4AEA}"/>
              </a:ext>
            </a:extLst>
          </p:cNvPr>
          <p:cNvSpPr txBox="1"/>
          <p:nvPr/>
        </p:nvSpPr>
        <p:spPr>
          <a:xfrm>
            <a:off x="647999" y="1203881"/>
            <a:ext cx="8015999" cy="408650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C00000"/>
              </a:buClr>
            </a:pPr>
            <a:r>
              <a:rPr lang="en-US" sz="3200" b="1" dirty="0"/>
              <a:t>Conclusion:</a:t>
            </a:r>
          </a:p>
          <a:p>
            <a:pPr algn="l">
              <a:lnSpc>
                <a:spcPct val="150000"/>
              </a:lnSpc>
              <a:buClr>
                <a:srgbClr val="C00000"/>
              </a:buClr>
            </a:pPr>
            <a:r>
              <a:rPr lang="en-US" sz="2400" dirty="0"/>
              <a:t>CAN swing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FOR A LONG TIME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~40s, </a:t>
            </a:r>
            <a:r>
              <a:rPr lang="en-US" sz="2400" dirty="0"/>
              <a:t>at least</a:t>
            </a:r>
            <a:r>
              <a:rPr lang="en-US" sz="2400" dirty="0">
                <a:solidFill>
                  <a:srgbClr val="FF0000"/>
                </a:solidFill>
              </a:rPr>
              <a:t> 60 periods </a:t>
            </a:r>
            <a:r>
              <a:rPr lang="en-US" sz="2400" dirty="0"/>
              <a:t>directly by eyes)</a:t>
            </a: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sz="2400" dirty="0"/>
              <a:t>under</a:t>
            </a:r>
            <a:r>
              <a:rPr lang="en-US" sz="2400" b="1" dirty="0"/>
              <a:t> SMALL ANGLE</a:t>
            </a:r>
          </a:p>
          <a:p>
            <a:pPr algn="l">
              <a:lnSpc>
                <a:spcPct val="150000"/>
              </a:lnSpc>
              <a:buClr>
                <a:srgbClr val="C00000"/>
              </a:buClr>
            </a:pPr>
            <a:r>
              <a:rPr lang="en-US" sz="2400" b="1" dirty="0"/>
              <a:t>CONDITION </a:t>
            </a:r>
            <a:r>
              <a:rPr lang="en-US" sz="2400" dirty="0"/>
              <a:t>&amp;</a:t>
            </a:r>
            <a:r>
              <a:rPr lang="en-US" sz="2400" b="1" dirty="0"/>
              <a:t> LIQUID</a:t>
            </a:r>
          </a:p>
          <a:p>
            <a:pPr algn="l">
              <a:lnSpc>
                <a:spcPct val="150000"/>
              </a:lnSpc>
              <a:buClr>
                <a:srgbClr val="C00000"/>
              </a:buClr>
            </a:pPr>
            <a:r>
              <a:rPr lang="en-US" sz="2400" b="1" dirty="0"/>
              <a:t>DAMPING</a:t>
            </a:r>
          </a:p>
          <a:p>
            <a:pPr algn="l">
              <a:lnSpc>
                <a:spcPct val="150000"/>
              </a:lnSpc>
              <a:buClr>
                <a:srgbClr val="C00000"/>
              </a:buClr>
            </a:pP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419B85-DEE6-A15A-C761-D1AD5C00A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280338"/>
              </p:ext>
            </p:extLst>
          </p:nvPr>
        </p:nvGraphicFramePr>
        <p:xfrm>
          <a:off x="4104000" y="2691768"/>
          <a:ext cx="4559999" cy="2232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45563">
                  <a:extLst>
                    <a:ext uri="{9D8B030D-6E8A-4147-A177-3AD203B41FA5}">
                      <a16:colId xmlns:a16="http://schemas.microsoft.com/office/drawing/2014/main" val="2106681959"/>
                    </a:ext>
                  </a:extLst>
                </a:gridCol>
                <a:gridCol w="1177748">
                  <a:extLst>
                    <a:ext uri="{9D8B030D-6E8A-4147-A177-3AD203B41FA5}">
                      <a16:colId xmlns:a16="http://schemas.microsoft.com/office/drawing/2014/main" val="1642587402"/>
                    </a:ext>
                  </a:extLst>
                </a:gridCol>
                <a:gridCol w="996556">
                  <a:extLst>
                    <a:ext uri="{9D8B030D-6E8A-4147-A177-3AD203B41FA5}">
                      <a16:colId xmlns:a16="http://schemas.microsoft.com/office/drawing/2014/main" val="491820258"/>
                    </a:ext>
                  </a:extLst>
                </a:gridCol>
                <a:gridCol w="1540132">
                  <a:extLst>
                    <a:ext uri="{9D8B030D-6E8A-4147-A177-3AD203B41FA5}">
                      <a16:colId xmlns:a16="http://schemas.microsoft.com/office/drawing/2014/main" val="1171952478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Frame/f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10T/s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80695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740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6.167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0.614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809668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6.133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3539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6.100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3002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738.5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6.154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478956"/>
                  </a:ext>
                </a:extLst>
              </a:tr>
            </a:tbl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82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8FFD9-86F7-0282-091B-34B5361AB6D3}"/>
              </a:ext>
            </a:extLst>
          </p:cNvPr>
          <p:cNvSpPr txBox="1"/>
          <p:nvPr/>
        </p:nvSpPr>
        <p:spPr>
          <a:xfrm>
            <a:off x="5652000" y="4929772"/>
            <a:ext cx="1440000" cy="36061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>
                <a:srgbClr val="C00000"/>
              </a:buClr>
            </a:pPr>
            <a:r>
              <a:rPr lang="en-US" sz="1600" dirty="0"/>
              <a:t>Data Table</a:t>
            </a:r>
          </a:p>
        </p:txBody>
      </p:sp>
    </p:spTree>
    <p:extLst>
      <p:ext uri="{BB962C8B-B14F-4D97-AF65-F5344CB8AC3E}">
        <p14:creationId xmlns:p14="http://schemas.microsoft.com/office/powerpoint/2010/main" val="239745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7F689E-44C0-3BC8-F738-31A795AE4AEA}"/>
                  </a:ext>
                </a:extLst>
              </p:cNvPr>
              <p:cNvSpPr txBox="1"/>
              <p:nvPr/>
            </p:nvSpPr>
            <p:spPr>
              <a:xfrm>
                <a:off x="324000" y="1203881"/>
                <a:ext cx="8964000" cy="3947234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>
                    <a:srgbClr val="C00000"/>
                  </a:buClr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=1.17×1.431×</m:t>
                    </m:r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×1000×0.5=0.837 </m:t>
                    </m:r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𝑘𝑔</m:t>
                    </m:r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pPr lvl="0">
                  <a:buClr>
                    <a:srgbClr val="C00000"/>
                  </a:buClr>
                  <a:defRPr/>
                </a:pP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=5.934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𝑘𝑔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=304.11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𝑚𝑁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=25.7</m:t>
                    </m:r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𝑚𝑚</m:t>
                    </m:r>
                  </m:oMath>
                </a14:m>
                <a:r>
                  <a:rPr lang="en-US" sz="2400" b="1" dirty="0"/>
                  <a:t> </a:t>
                </a:r>
              </a:p>
              <a:p>
                <a:pPr lvl="0">
                  <a:buClr>
                    <a:srgbClr val="C00000"/>
                  </a:buClr>
                  <a:defRPr/>
                </a:pPr>
                <a:endParaRPr lang="en-US" sz="2400" b="1" dirty="0"/>
              </a:p>
              <a:p>
                <a:pPr lvl="0">
                  <a:buClr>
                    <a:srgbClr val="C00000"/>
                  </a:buClr>
                  <a:defRPr/>
                </a:pPr>
                <a:r>
                  <a:rPr lang="en-US" sz="2400" b="1" dirty="0"/>
                  <a:t>Measured Results:</a:t>
                </a:r>
              </a:p>
              <a:p>
                <a:pPr algn="l">
                  <a:buClr>
                    <a:srgbClr val="C00000"/>
                  </a:buClr>
                </a:pPr>
                <a:r>
                  <a:rPr lang="en-US" sz="2000" dirty="0"/>
                  <a:t>Period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1" i="0" smtClean="0">
                        <a:solidFill>
                          <a:srgbClr val="9A0D1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i="0" smtClean="0">
                        <a:solidFill>
                          <a:srgbClr val="9A0D1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1" i="0" smtClean="0">
                        <a:solidFill>
                          <a:srgbClr val="9A0D1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𝟔𝟏𝟒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𝑠𝑒𝑐𝑜𝑛𝑑𝑠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l">
                  <a:buClr>
                    <a:srgbClr val="C00000"/>
                  </a:buClr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>
                  <a:buClr>
                    <a:srgbClr val="C00000"/>
                  </a:buClr>
                </a:pPr>
                <a:r>
                  <a:rPr lang="en-US" sz="2400" b="1" dirty="0"/>
                  <a:t>Theoretical Results:</a:t>
                </a:r>
              </a:p>
              <a:p>
                <a:pPr marL="342900" indent="-342900" algn="l">
                  <a:buClr>
                    <a:srgbClr val="C00000"/>
                  </a:buClr>
                  <a:buFont typeface="+mj-lt"/>
                  <a:buAutoNum type="arabicPeriod"/>
                </a:pPr>
                <a:r>
                  <a:rPr lang="en-US" b="0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p>
                                <m:r>
                                  <a:rPr lang="en-US" b="0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b="0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lin"/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b="0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b="0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rad>
                    <m: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 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Period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9A0D1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1" i="1">
                        <a:solidFill>
                          <a:srgbClr val="9A0D1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i="1">
                        <a:solidFill>
                          <a:srgbClr val="9A0D1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sz="2000" b="1" i="1">
                        <a:solidFill>
                          <a:srgbClr val="9A0D1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𝟓𝟕𝟗</m:t>
                    </m:r>
                    <m:r>
                      <a:rPr lang="en-US" sz="2000" b="1" i="1">
                        <a:solidFill>
                          <a:srgbClr val="9A0D1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𝑠𝑒𝑐𝑜𝑛𝑑𝑠</m:t>
                    </m:r>
                    <m:r>
                      <a:rPr lang="en-US" sz="2000" b="1" i="1">
                        <a:solidFill>
                          <a:srgbClr val="9A0D1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≈−5.7%</m:t>
                    </m:r>
                  </m:oMath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lvl="0" indent="-342900">
                  <a:buClr>
                    <a:srgbClr val="C00000"/>
                  </a:buClr>
                  <a:buFont typeface="+mj-lt"/>
                  <a:buAutoNum type="arabicPeriod"/>
                  <a:defRPr/>
                </a:pP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sSup>
                                  <m:sSupPr>
                                    <m:ctrlPr>
                                      <a:rPr lang="en-US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𝑔𝑅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sSup>
                                  <m:sSupPr>
                                    <m:ctrlPr>
                                      <a:rPr lang="en-US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</m:e>
                    </m:ra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,  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Period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9A0D1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9A0D1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9A0D1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𝟓𝟓𝟏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𝑠𝑒𝑐𝑜𝑛𝑑𝑠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≈−10.3%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Clr>
                    <a:srgbClr val="C00000"/>
                  </a:buClr>
                  <a:buFont typeface="+mj-lt"/>
                  <a:buAutoNum type="arabicPeriod"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7F689E-44C0-3BC8-F738-31A795AE4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203881"/>
                <a:ext cx="8964000" cy="3947234"/>
              </a:xfrm>
              <a:prstGeom prst="rect">
                <a:avLst/>
              </a:prstGeom>
              <a:blipFill>
                <a:blip r:embed="rId2"/>
                <a:stretch>
                  <a:fillRect l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82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419B85-DEE6-A15A-C761-D1AD5C00A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896368"/>
              </p:ext>
            </p:extLst>
          </p:nvPr>
        </p:nvGraphicFramePr>
        <p:xfrm>
          <a:off x="5141539" y="1350040"/>
          <a:ext cx="3599999" cy="185042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67550">
                  <a:extLst>
                    <a:ext uri="{9D8B030D-6E8A-4147-A177-3AD203B41FA5}">
                      <a16:colId xmlns:a16="http://schemas.microsoft.com/office/drawing/2014/main" val="2106681959"/>
                    </a:ext>
                  </a:extLst>
                </a:gridCol>
                <a:gridCol w="929801">
                  <a:extLst>
                    <a:ext uri="{9D8B030D-6E8A-4147-A177-3AD203B41FA5}">
                      <a16:colId xmlns:a16="http://schemas.microsoft.com/office/drawing/2014/main" val="1642587402"/>
                    </a:ext>
                  </a:extLst>
                </a:gridCol>
                <a:gridCol w="786754">
                  <a:extLst>
                    <a:ext uri="{9D8B030D-6E8A-4147-A177-3AD203B41FA5}">
                      <a16:colId xmlns:a16="http://schemas.microsoft.com/office/drawing/2014/main" val="491820258"/>
                    </a:ext>
                  </a:extLst>
                </a:gridCol>
                <a:gridCol w="1215894">
                  <a:extLst>
                    <a:ext uri="{9D8B030D-6E8A-4147-A177-3AD203B41FA5}">
                      <a16:colId xmlns:a16="http://schemas.microsoft.com/office/drawing/2014/main" val="1171952478"/>
                    </a:ext>
                  </a:extLst>
                </a:gridCol>
              </a:tblGrid>
              <a:tr h="509305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Frame/f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10T/s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806953"/>
                  </a:ext>
                </a:extLst>
              </a:tr>
              <a:tr h="3097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740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6.167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0.614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809668"/>
                  </a:ext>
                </a:extLst>
              </a:tr>
              <a:tr h="3097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6.133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35394"/>
                  </a:ext>
                </a:extLst>
              </a:tr>
              <a:tr h="3097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6.100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300273"/>
                  </a:ext>
                </a:extLst>
              </a:tr>
              <a:tr h="3097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738.5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/>
                        <a:t>6.154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4789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F8FFD9-86F7-0282-091B-34B5361AB6D3}"/>
              </a:ext>
            </a:extLst>
          </p:cNvPr>
          <p:cNvSpPr txBox="1"/>
          <p:nvPr/>
        </p:nvSpPr>
        <p:spPr>
          <a:xfrm>
            <a:off x="6221538" y="3194746"/>
            <a:ext cx="1440000" cy="36061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>
                <a:srgbClr val="C00000"/>
              </a:buClr>
            </a:pPr>
            <a:r>
              <a:rPr lang="en-US" sz="1600" dirty="0"/>
              <a:t>Data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2DF6C-A270-B543-9A3A-897591748A58}"/>
              </a:ext>
            </a:extLst>
          </p:cNvPr>
          <p:cNvSpPr txBox="1"/>
          <p:nvPr/>
        </p:nvSpPr>
        <p:spPr>
          <a:xfrm>
            <a:off x="684000" y="5017088"/>
            <a:ext cx="2736000" cy="42774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>
                <a:srgbClr val="C00000"/>
              </a:buClr>
            </a:pPr>
            <a:r>
              <a:rPr lang="en-US" sz="2000" dirty="0"/>
              <a:t>Nov. 20th</a:t>
            </a:r>
          </a:p>
        </p:txBody>
      </p:sp>
    </p:spTree>
    <p:extLst>
      <p:ext uri="{BB962C8B-B14F-4D97-AF65-F5344CB8AC3E}">
        <p14:creationId xmlns:p14="http://schemas.microsoft.com/office/powerpoint/2010/main" val="210213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82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PROBLEMS &amp; SOLUTIONS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F689E-44C0-3BC8-F738-31A795AE4AEA}"/>
              </a:ext>
            </a:extLst>
          </p:cNvPr>
          <p:cNvSpPr txBox="1"/>
          <p:nvPr/>
        </p:nvSpPr>
        <p:spPr>
          <a:xfrm>
            <a:off x="684000" y="1563881"/>
            <a:ext cx="7848000" cy="344017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C00000"/>
              </a:buClr>
            </a:pPr>
            <a:r>
              <a:rPr lang="en-US" sz="2800" dirty="0"/>
              <a:t>WHY?</a:t>
            </a:r>
          </a:p>
          <a:p>
            <a:pPr marL="514350" indent="-514350" algn="l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sz="2400" dirty="0"/>
              <a:t>More</a:t>
            </a:r>
            <a:r>
              <a:rPr lang="en-US" sz="2400" b="1" dirty="0"/>
              <a:t> friction </a:t>
            </a:r>
            <a:r>
              <a:rPr lang="en-US" sz="2400" dirty="0"/>
              <a:t>than ideal –not only liquid damping</a:t>
            </a:r>
          </a:p>
          <a:p>
            <a:pPr marL="514350" indent="-514350" algn="l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sz="2400" dirty="0"/>
              <a:t>Did </a:t>
            </a:r>
            <a:r>
              <a:rPr lang="en-US" sz="2400" b="1" dirty="0"/>
              <a:t>not fixed </a:t>
            </a:r>
            <a:r>
              <a:rPr lang="en-US" sz="2400" dirty="0"/>
              <a:t>axes and pendulum</a:t>
            </a:r>
          </a:p>
          <a:p>
            <a:pPr marL="514350" indent="-514350" algn="l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sz="2400" dirty="0"/>
              <a:t>Measuring </a:t>
            </a:r>
            <a:r>
              <a:rPr lang="en-US" sz="2400" b="1" dirty="0"/>
              <a:t>uncertainty</a:t>
            </a:r>
            <a:r>
              <a:rPr lang="en-US" sz="2400" dirty="0"/>
              <a:t> –especially </a:t>
            </a:r>
            <a:r>
              <a:rPr lang="en-US" sz="2400" b="1" i="1" dirty="0"/>
              <a:t>k</a:t>
            </a:r>
          </a:p>
          <a:p>
            <a:pPr marL="514350" indent="-514350" algn="l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endParaRPr lang="en-US" sz="2400" b="1" i="1" dirty="0"/>
          </a:p>
          <a:p>
            <a:pPr algn="ctr">
              <a:lnSpc>
                <a:spcPct val="150000"/>
              </a:lnSpc>
              <a:buClr>
                <a:srgbClr val="C00000"/>
              </a:buClr>
            </a:pPr>
            <a:r>
              <a:rPr lang="en-US" sz="2400" dirty="0"/>
              <a:t>ROUGH EXPERIMENT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298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Times New Roman" panose="02020603050405020304" pitchFamily="18" charset="0"/>
                <a:sym typeface="+mn-lt"/>
              </a:rPr>
              <a:t>TIMELINE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B20E903-DC47-A7C8-1B4C-32554DE9A8B1}"/>
              </a:ext>
            </a:extLst>
          </p:cNvPr>
          <p:cNvCxnSpPr/>
          <p:nvPr/>
        </p:nvCxnSpPr>
        <p:spPr>
          <a:xfrm>
            <a:off x="180000" y="3250009"/>
            <a:ext cx="8784000" cy="0"/>
          </a:xfrm>
          <a:prstGeom prst="straightConnector1">
            <a:avLst/>
          </a:prstGeom>
          <a:ln w="57150">
            <a:solidFill>
              <a:srgbClr val="A0222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74024AA1-238D-95B0-2B97-DB7DC2A50A03}"/>
              </a:ext>
            </a:extLst>
          </p:cNvPr>
          <p:cNvSpPr/>
          <p:nvPr/>
        </p:nvSpPr>
        <p:spPr>
          <a:xfrm>
            <a:off x="220128" y="3261487"/>
            <a:ext cx="2520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A02225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</a:rPr>
              <a:t>2023.07-08: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</a:rPr>
              <a:t>Determine research topic, make the first step to the question,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</a:rPr>
              <a:t>have a basic understanding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7" name="标注: 下箭头 6">
            <a:extLst>
              <a:ext uri="{FF2B5EF4-FFF2-40B4-BE49-F238E27FC236}">
                <a16:creationId xmlns:a16="http://schemas.microsoft.com/office/drawing/2014/main" id="{CC07C651-D4FB-28C9-AA7E-BE24B142748B}"/>
              </a:ext>
            </a:extLst>
          </p:cNvPr>
          <p:cNvSpPr/>
          <p:nvPr/>
        </p:nvSpPr>
        <p:spPr>
          <a:xfrm>
            <a:off x="753166" y="1048408"/>
            <a:ext cx="250886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rgbClr val="A02225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2023.09-10: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Collect references, work out the first version of formula about the pendulum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8" name="标注: 上箭头 7">
            <a:extLst>
              <a:ext uri="{FF2B5EF4-FFF2-40B4-BE49-F238E27FC236}">
                <a16:creationId xmlns:a16="http://schemas.microsoft.com/office/drawing/2014/main" id="{1B9F08DF-0AD1-2CBC-36AA-25BD908ADDCA}"/>
              </a:ext>
            </a:extLst>
          </p:cNvPr>
          <p:cNvSpPr/>
          <p:nvPr/>
        </p:nvSpPr>
        <p:spPr>
          <a:xfrm>
            <a:off x="2812128" y="3261487"/>
            <a:ext cx="3096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2023.11-12: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Study how to plot graph and how to meet the needs of experiments(e.g. python+3d design)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9" name="标注: 下箭头 8">
            <a:extLst>
              <a:ext uri="{FF2B5EF4-FFF2-40B4-BE49-F238E27FC236}">
                <a16:creationId xmlns:a16="http://schemas.microsoft.com/office/drawing/2014/main" id="{94FE36C7-410F-A305-F1F8-D8B0F16E5EE7}"/>
              </a:ext>
            </a:extLst>
          </p:cNvPr>
          <p:cNvSpPr/>
          <p:nvPr/>
        </p:nvSpPr>
        <p:spPr>
          <a:xfrm>
            <a:off x="3365230" y="1048408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2023.12-24.01: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Design experiment, make theorical expectations, calculate various answers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11" name="标注: 上箭头 10">
            <a:extLst>
              <a:ext uri="{FF2B5EF4-FFF2-40B4-BE49-F238E27FC236}">
                <a16:creationId xmlns:a16="http://schemas.microsoft.com/office/drawing/2014/main" id="{673A8D96-C4DD-BD09-9B55-F3C712903478}"/>
              </a:ext>
            </a:extLst>
          </p:cNvPr>
          <p:cNvSpPr/>
          <p:nvPr/>
        </p:nvSpPr>
        <p:spPr>
          <a:xfrm>
            <a:off x="5980128" y="3261487"/>
            <a:ext cx="2695872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2024.01-02: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Complete experiment, check if any mistakes,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Draw graphs and compare the expectations with reality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12" name="标注: 下箭头 11">
            <a:extLst>
              <a:ext uri="{FF2B5EF4-FFF2-40B4-BE49-F238E27FC236}">
                <a16:creationId xmlns:a16="http://schemas.microsoft.com/office/drawing/2014/main" id="{3136E38C-37E4-58FC-498C-35E07D7868B1}"/>
              </a:ext>
            </a:extLst>
          </p:cNvPr>
          <p:cNvSpPr/>
          <p:nvPr/>
        </p:nvSpPr>
        <p:spPr>
          <a:xfrm>
            <a:off x="6277056" y="1066124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2024.03-04: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Analyze data, finish the essay, submit to tutor for final revision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456507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Times New Roman" panose="02020603050405020304" pitchFamily="18" charset="0"/>
                <a:sym typeface="+mn-lt"/>
              </a:rPr>
              <a:t>TIMELINE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B20E903-DC47-A7C8-1B4C-32554DE9A8B1}"/>
              </a:ext>
            </a:extLst>
          </p:cNvPr>
          <p:cNvCxnSpPr/>
          <p:nvPr/>
        </p:nvCxnSpPr>
        <p:spPr>
          <a:xfrm>
            <a:off x="180000" y="3250009"/>
            <a:ext cx="8784000" cy="0"/>
          </a:xfrm>
          <a:prstGeom prst="straightConnector1">
            <a:avLst/>
          </a:prstGeom>
          <a:ln w="57150">
            <a:solidFill>
              <a:srgbClr val="A0222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74024AA1-238D-95B0-2B97-DB7DC2A50A03}"/>
              </a:ext>
            </a:extLst>
          </p:cNvPr>
          <p:cNvSpPr/>
          <p:nvPr/>
        </p:nvSpPr>
        <p:spPr>
          <a:xfrm>
            <a:off x="220128" y="3261487"/>
            <a:ext cx="2520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A02225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</a:rPr>
              <a:t>2023.07-08: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</a:rPr>
              <a:t>Determine research topic, make the first step to the question,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</a:rPr>
              <a:t>have a basic understanding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7" name="标注: 下箭头 6">
            <a:extLst>
              <a:ext uri="{FF2B5EF4-FFF2-40B4-BE49-F238E27FC236}">
                <a16:creationId xmlns:a16="http://schemas.microsoft.com/office/drawing/2014/main" id="{CC07C651-D4FB-28C9-AA7E-BE24B142748B}"/>
              </a:ext>
            </a:extLst>
          </p:cNvPr>
          <p:cNvSpPr/>
          <p:nvPr/>
        </p:nvSpPr>
        <p:spPr>
          <a:xfrm>
            <a:off x="753166" y="1048408"/>
            <a:ext cx="250886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rgbClr val="A02225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2023.09-10: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Collect references, work out the first version of formula about the pendulum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8" name="标注: 上箭头 7">
            <a:extLst>
              <a:ext uri="{FF2B5EF4-FFF2-40B4-BE49-F238E27FC236}">
                <a16:creationId xmlns:a16="http://schemas.microsoft.com/office/drawing/2014/main" id="{1B9F08DF-0AD1-2CBC-36AA-25BD908ADDCA}"/>
              </a:ext>
            </a:extLst>
          </p:cNvPr>
          <p:cNvSpPr/>
          <p:nvPr/>
        </p:nvSpPr>
        <p:spPr>
          <a:xfrm>
            <a:off x="2812128" y="3261487"/>
            <a:ext cx="3096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A02225"/>
                </a:solidFill>
                <a:effectLst/>
                <a:uLnTx/>
                <a:uFillTx/>
                <a:latin typeface="Arial"/>
                <a:ea typeface="微软雅黑"/>
              </a:rPr>
              <a:t>2023.11-12: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A02225"/>
                </a:solidFill>
                <a:effectLst/>
                <a:uLnTx/>
                <a:uFillTx/>
                <a:latin typeface="Arial"/>
                <a:ea typeface="微软雅黑"/>
              </a:rPr>
              <a:t>Study how to plot graph and how to meet the needs of experiments(e.g. python+3d design)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A02225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9" name="标注: 下箭头 8">
            <a:extLst>
              <a:ext uri="{FF2B5EF4-FFF2-40B4-BE49-F238E27FC236}">
                <a16:creationId xmlns:a16="http://schemas.microsoft.com/office/drawing/2014/main" id="{94FE36C7-410F-A305-F1F8-D8B0F16E5EE7}"/>
              </a:ext>
            </a:extLst>
          </p:cNvPr>
          <p:cNvSpPr/>
          <p:nvPr/>
        </p:nvSpPr>
        <p:spPr>
          <a:xfrm>
            <a:off x="3365230" y="1048408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2023.12-24.01: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Design experiment, make theorical expectations, calculate various answers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11" name="标注: 上箭头 10">
            <a:extLst>
              <a:ext uri="{FF2B5EF4-FFF2-40B4-BE49-F238E27FC236}">
                <a16:creationId xmlns:a16="http://schemas.microsoft.com/office/drawing/2014/main" id="{673A8D96-C4DD-BD09-9B55-F3C712903478}"/>
              </a:ext>
            </a:extLst>
          </p:cNvPr>
          <p:cNvSpPr/>
          <p:nvPr/>
        </p:nvSpPr>
        <p:spPr>
          <a:xfrm>
            <a:off x="5980128" y="3261487"/>
            <a:ext cx="2695872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2024.01-02: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Complete experiment, check if any mistakes,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Draw graphs and compare the expectations with reality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12" name="标注: 下箭头 11">
            <a:extLst>
              <a:ext uri="{FF2B5EF4-FFF2-40B4-BE49-F238E27FC236}">
                <a16:creationId xmlns:a16="http://schemas.microsoft.com/office/drawing/2014/main" id="{3136E38C-37E4-58FC-498C-35E07D7868B1}"/>
              </a:ext>
            </a:extLst>
          </p:cNvPr>
          <p:cNvSpPr/>
          <p:nvPr/>
        </p:nvSpPr>
        <p:spPr>
          <a:xfrm>
            <a:off x="6277056" y="1066124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2024.03-04: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rPr>
              <a:t>Analyze data, finish the essay, submit to tutor for final revision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99469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WORK PLAN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972000" y="1786125"/>
            <a:ext cx="7632000" cy="2147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Do ACCURATE EXPERIMENTs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Design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. –3D printer, a model of pendulum.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Produce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. –Prepare a list of buying.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Write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. –Start writing the report.</a:t>
            </a:r>
          </a:p>
        </p:txBody>
      </p:sp>
    </p:spTree>
    <p:extLst>
      <p:ext uri="{BB962C8B-B14F-4D97-AF65-F5344CB8AC3E}">
        <p14:creationId xmlns:p14="http://schemas.microsoft.com/office/powerpoint/2010/main" val="24191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REFERENCES 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633923" y="1133677"/>
            <a:ext cx="8452154" cy="4678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sng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[1] </a:t>
            </a:r>
            <a:r>
              <a:rPr lang="zh-CN" altLang="en-US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复摆运动状态的研究 </a:t>
            </a:r>
            <a:endParaRPr lang="en-US" altLang="zh-CN" sz="1600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	Study on the motion behaviors of the compound pendulum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sng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[2] </a:t>
            </a:r>
            <a:r>
              <a:rPr lang="zh-CN" altLang="en-US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空气阻力对复摆振动周期的影响 </a:t>
            </a:r>
            <a:endParaRPr lang="en-US" altLang="zh-CN" sz="1600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	Influence of air resistance on vibration period of compound pendulum</a:t>
            </a:r>
            <a:br>
              <a:rPr lang="en-US" altLang="zh-CN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</a:br>
            <a:r>
              <a:rPr lang="en-US" altLang="zh-CN" sz="1600" b="1" u="sng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[3] </a:t>
            </a:r>
            <a:r>
              <a:rPr lang="zh-CN" altLang="en-US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任意摆角的复摆振动规律研究 </a:t>
            </a:r>
            <a:endParaRPr lang="en-US" altLang="zh-CN" sz="1600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	Research on Vibrations of Compound Pendulum for Arbitrary Angles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sng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[4]</a:t>
            </a:r>
            <a:r>
              <a:rPr lang="en-US" altLang="zh-CN" sz="1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	</a:t>
            </a:r>
            <a:r>
              <a:rPr lang="en-US" sz="1600" dirty="0">
                <a:hlinkClick r:id="rId2"/>
              </a:rPr>
              <a:t>https://math.libretexts.org/Bookshelves/Calculus/Calculus_(OpenStax)/17%3A_Second-Order_Differential_Equations/17.01%3A_Second-Order_Linear_Equations#mjx-eqn-super</a:t>
            </a:r>
            <a:endParaRPr lang="en-US" sz="1600" dirty="0"/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sng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Fig 1.</a:t>
            </a:r>
            <a:r>
              <a:rPr lang="en-US" altLang="zh-CN" sz="1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	</a:t>
            </a:r>
            <a:r>
              <a:rPr lang="en-US" altLang="zh-CN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Practical Applications of the Compound Pendulum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sng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Fig 2.</a:t>
            </a:r>
            <a:r>
              <a:rPr lang="zh-CN" altLang="en-US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空气阻力对复摆振动周期的影响 </a:t>
            </a:r>
            <a:endParaRPr lang="en-US" altLang="zh-CN" sz="1600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	Influence of air resistance on vibration period of compound pendulum 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sng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Fig 3.</a:t>
            </a:r>
            <a:r>
              <a:rPr lang="en-US" altLang="zh-CN" sz="1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	</a:t>
            </a:r>
            <a:r>
              <a:rPr lang="en-US" altLang="zh-CN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Experimental analysis of a physical pendulum with variable suspension point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sng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Fig 4.</a:t>
            </a:r>
            <a:r>
              <a:rPr lang="zh-CN" altLang="en-US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空气阻力对复摆振动周期的影响 </a:t>
            </a:r>
            <a:endParaRPr lang="en-US" altLang="zh-CN" sz="1600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	Influence of air resistance on vibration period of compound pendulum 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sng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Fig 6.</a:t>
            </a:r>
            <a:r>
              <a:rPr lang="zh-CN" altLang="en-US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任意摆角的复摆振动规律研究 </a:t>
            </a:r>
            <a:endParaRPr lang="en-US" altLang="zh-CN" sz="1600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	Research on Vibrations of Compound Pendulum for Arbitrary Angles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7524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968" y="2139881"/>
            <a:ext cx="7772400" cy="1021735"/>
          </a:xfrm>
        </p:spPr>
        <p:txBody>
          <a:bodyPr>
            <a:spAutoFit/>
          </a:bodyPr>
          <a:lstStyle/>
          <a:p>
            <a:pPr algn="l" eaLnBrk="1" latinLnBrk="0" hangingPunct="1">
              <a:lnSpc>
                <a:spcPct val="1000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Thank you for your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宋体"/>
      </a:majorFont>
      <a:minorFont>
        <a:latin typeface="Arial"/>
        <a:ea typeface="微软雅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>
        <a:spAutoFit/>
      </a:bodyPr>
      <a:lstStyle>
        <a:defPPr algn="l">
          <a:lnSpc>
            <a:spcPct val="120000"/>
          </a:lnSpc>
          <a:buClr>
            <a:srgbClr val="C00000"/>
          </a:buClr>
          <a:defRPr sz="2000" dirty="0"/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6305</TotalTime>
  <Words>1486</Words>
  <Application>Microsoft Office PowerPoint</Application>
  <PresentationFormat>Custom</PresentationFormat>
  <Paragraphs>295</Paragraphs>
  <Slides>31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微软雅黑</vt:lpstr>
      <vt:lpstr>Arial</vt:lpstr>
      <vt:lpstr>Calibri</vt:lpstr>
      <vt:lpstr>Cambria Math</vt:lpstr>
      <vt:lpstr>Times New Roman</vt:lpstr>
      <vt:lpstr>Wingdings</vt:lpstr>
      <vt:lpstr>默认设计模板</vt:lpstr>
      <vt:lpstr>Two Approximation Methods on the Period of Compound Pendulum with Liquid Damping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ST JT</cp:lastModifiedBy>
  <cp:revision>682</cp:revision>
  <cp:lastPrinted>2113-01-01T00:00:00Z</cp:lastPrinted>
  <dcterms:created xsi:type="dcterms:W3CDTF">2015-03-13T08:02:00Z</dcterms:created>
  <dcterms:modified xsi:type="dcterms:W3CDTF">2023-11-28T03:35:16Z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2052-11.1.0.10463</vt:lpwstr>
  </property>
  <property fmtid="{D5CDD505-2E9C-101B-9397-08002B2CF9AE}" pid="4" name="ICV">
    <vt:lpwstr>478EF44DC9C741E780E5CA3644556A3A</vt:lpwstr>
  </property>
</Properties>
</file>