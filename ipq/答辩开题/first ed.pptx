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400" r:id="rId3"/>
    <p:sldId id="468" r:id="rId4"/>
    <p:sldId id="467" r:id="rId5"/>
    <p:sldId id="469" r:id="rId6"/>
    <p:sldId id="471" r:id="rId7"/>
    <p:sldId id="470" r:id="rId8"/>
    <p:sldId id="305" r:id="rId9"/>
  </p:sldIdLst>
  <p:sldSz cx="9144000" cy="5719763"/>
  <p:notesSz cx="6761163" cy="99425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7">
          <p15:clr>
            <a:srgbClr val="A4A3A4"/>
          </p15:clr>
        </p15:guide>
        <p15:guide id="2" pos="3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0D15"/>
    <a:srgbClr val="FFFFFF"/>
    <a:srgbClr val="A02225"/>
    <a:srgbClr val="FF9999"/>
    <a:srgbClr val="D77D0F"/>
    <a:srgbClr val="9A0D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3" autoAdjust="0"/>
    <p:restoredTop sz="93100"/>
  </p:normalViewPr>
  <p:slideViewPr>
    <p:cSldViewPr showGuides="1">
      <p:cViewPr varScale="1">
        <p:scale>
          <a:sx n="74" d="100"/>
          <a:sy n="74" d="100"/>
        </p:scale>
        <p:origin x="1254" y="72"/>
      </p:cViewPr>
      <p:guideLst>
        <p:guide orient="horz" pos="1167"/>
        <p:guide pos="3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2D1ED-119A-46AE-B331-371B8B86FCFF}" type="datetimeFigureOut">
              <a:rPr lang="zh-CN" altLang="en-US" smtClean="0"/>
              <a:t>2023/8/14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52C0E-53D7-4104-A0E7-5E833EABB3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9292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5458E-FF70-4365-837E-3ABB2A84A1C6}" type="datetimeFigureOut">
              <a:rPr lang="zh-CN" altLang="en-US" smtClean="0"/>
              <a:t>2023/8/14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1436" y="746125"/>
            <a:ext cx="595829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664A68-3F8A-412F-A893-E4679BC1FB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34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769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01638" y="746125"/>
            <a:ext cx="5957887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64A68-3F8A-412F-A893-E4679BC1FB2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315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79B610-238B-4C94-911B-38D30741D0CB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2" name="图片 1" descr="光华剑桥PPT三个尺寸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5"/>
            <a:ext cx="9142730" cy="57194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7314"/>
            <a:ext cx="7772400" cy="122637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42075"/>
            <a:ext cx="6400800" cy="1462112"/>
          </a:xfrm>
        </p:spPr>
        <p:txBody>
          <a:bodyPr/>
          <a:lstStyle>
            <a:lvl1pPr marL="0" indent="0" algn="ctr">
              <a:buNone/>
              <a:defRPr/>
            </a:lvl1pPr>
            <a:lvl2pPr marL="381000" indent="0" algn="ctr">
              <a:buNone/>
              <a:defRPr/>
            </a:lvl2pPr>
            <a:lvl3pPr marL="762635" indent="0" algn="ctr">
              <a:buNone/>
              <a:defRPr/>
            </a:lvl3pPr>
            <a:lvl4pPr marL="1143635" indent="0" algn="ctr">
              <a:buNone/>
              <a:defRPr/>
            </a:lvl4pPr>
            <a:lvl5pPr marL="1525270" indent="0" algn="ctr">
              <a:buNone/>
              <a:defRPr/>
            </a:lvl5pPr>
            <a:lvl6pPr marL="1906270" indent="0" algn="ctr">
              <a:buNone/>
              <a:defRPr/>
            </a:lvl6pPr>
            <a:lvl7pPr marL="2288540" indent="0" algn="ctr">
              <a:buNone/>
              <a:defRPr/>
            </a:lvl7pPr>
            <a:lvl8pPr marL="2670175" indent="0" algn="ctr">
              <a:buNone/>
              <a:defRPr/>
            </a:lvl8pPr>
            <a:lvl9pPr marL="3051175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2F86B5-A254-4ED8-8F23-AF61DDD39B0C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12" name="图片 11" descr="光华剑桥PPT-改-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635"/>
            <a:ext cx="9142730" cy="57197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5B8E3A-BBB2-4A04-8574-9045E9090395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3" name="图片 2" descr="光华剑桥PPT三个尺寸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2730" cy="571944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08561"/>
            <a:ext cx="8229600" cy="95355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43533"/>
            <a:ext cx="8229600" cy="26063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0"/>
            <a:r>
              <a:rPr lang="zh-CN" altLang="en-US"/>
              <a:t>第二级</a:t>
            </a:r>
          </a:p>
          <a:p>
            <a:pPr lvl="1"/>
            <a:r>
              <a:rPr lang="zh-CN" altLang="en-US"/>
              <a:t>第三级</a:t>
            </a:r>
          </a:p>
          <a:p>
            <a:pPr lvl="2"/>
            <a:r>
              <a:rPr lang="zh-CN" altLang="en-US"/>
              <a:t>第四级</a:t>
            </a:r>
          </a:p>
          <a:p>
            <a:pPr lvl="3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577047"/>
            <a:ext cx="2133600" cy="397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17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577047"/>
            <a:ext cx="2895600" cy="397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17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77000" y="4577047"/>
            <a:ext cx="2133600" cy="3973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170"/>
            </a:lvl1pPr>
          </a:lstStyle>
          <a:p>
            <a:fld id="{53A26BEF-62AC-40AF-BE38-E9EC6678E3AC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367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宋体" panose="02010600030101010101" pitchFamily="2" charset="-122"/>
        </a:defRPr>
      </a:lvl9pPr>
    </p:titleStyle>
    <p:bodyStyle>
      <a:lvl1pPr marL="285750" indent="-285750" algn="l" rtl="0" fontAlgn="base">
        <a:spcBef>
          <a:spcPts val="80"/>
        </a:spcBef>
        <a:spcAft>
          <a:spcPct val="0"/>
        </a:spcAft>
        <a:buChar char="•"/>
        <a:defRPr sz="2670">
          <a:solidFill>
            <a:schemeClr val="tx1"/>
          </a:solidFill>
          <a:latin typeface="+mn-lt"/>
          <a:ea typeface="+mn-ea"/>
          <a:cs typeface="+mn-cs"/>
        </a:defRPr>
      </a:lvl1pPr>
      <a:lvl2pPr marL="619760" indent="-238760" algn="l" rtl="0" fontAlgn="base">
        <a:spcBef>
          <a:spcPts val="80"/>
        </a:spcBef>
        <a:spcAft>
          <a:spcPct val="0"/>
        </a:spcAft>
        <a:buChar char="–"/>
        <a:defRPr sz="2335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2pPr>
      <a:lvl3pPr marL="953135" indent="-190500" algn="l" rtl="0" fontAlgn="base">
        <a:spcBef>
          <a:spcPts val="8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334770" indent="-190500" algn="l" rtl="0" fontAlgn="base">
        <a:spcBef>
          <a:spcPts val="80"/>
        </a:spcBef>
        <a:spcAft>
          <a:spcPct val="0"/>
        </a:spcAft>
        <a:buChar char="–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1715770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098040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6pPr>
      <a:lvl7pPr marL="2479040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7pPr>
      <a:lvl8pPr marL="2860675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8pPr>
      <a:lvl9pPr marL="3241675" indent="-190500" algn="l" rtl="0" fontAlgn="base">
        <a:spcBef>
          <a:spcPts val="80"/>
        </a:spcBef>
        <a:spcAft>
          <a:spcPct val="0"/>
        </a:spcAft>
        <a:buChar char="»"/>
        <a:defRPr sz="167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9pPr>
    </p:bodyStyle>
    <p:otherStyle>
      <a:defPPr>
        <a:defRPr lang="zh-CN"/>
      </a:defPPr>
      <a:lvl1pPr marL="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100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2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63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5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627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8540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70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51175" algn="l" defTabSz="76263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92000" y="1563881"/>
            <a:ext cx="7560000" cy="1007829"/>
          </a:xfrm>
        </p:spPr>
        <p:txBody>
          <a:bodyPr wrap="square">
            <a:spAutoFit/>
          </a:bodyPr>
          <a:lstStyle/>
          <a:p>
            <a:pPr eaLnBrk="1" latinLnBrk="0" hangingPunct="1">
              <a:lnSpc>
                <a:spcPct val="120000"/>
              </a:lnSpc>
            </a:pPr>
            <a:r>
              <a:rPr lang="en-US" altLang="zh-CN" sz="3600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The Effects on the Period of Compound Pendulum due to Liquid Damping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5A8B63D-3E80-C6BB-128A-EF8DF8F84C54}"/>
              </a:ext>
            </a:extLst>
          </p:cNvPr>
          <p:cNvSpPr txBox="1">
            <a:spLocks noChangeArrowheads="1"/>
          </p:cNvSpPr>
          <p:nvPr/>
        </p:nvSpPr>
        <p:spPr>
          <a:xfrm>
            <a:off x="1548000" y="3507881"/>
            <a:ext cx="6264000" cy="1007829"/>
          </a:xfrm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7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</a:defRPr>
            </a:lvl9pPr>
          </a:lstStyle>
          <a:p>
            <a:pPr algn="r">
              <a:lnSpc>
                <a:spcPct val="120000"/>
              </a:lnSpc>
            </a:pPr>
            <a:endParaRPr lang="en-US" altLang="zh-CN" sz="1600" b="1" kern="0" dirty="0">
              <a:solidFill>
                <a:schemeClr val="bg1"/>
              </a:solidFill>
              <a:latin typeface="+mn-lt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</a:pPr>
            <a:r>
              <a:rPr lang="en-US" altLang="zh-CN" sz="1600" b="1" kern="0" dirty="0" err="1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Jintian</a:t>
            </a:r>
            <a:r>
              <a:rPr lang="en-US" altLang="zh-CN" sz="1600" b="1" kern="0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</a:rPr>
              <a:t> Wang</a:t>
            </a:r>
            <a:endParaRPr lang="en-US" altLang="zh-CN" sz="1100" kern="0" dirty="0">
              <a:solidFill>
                <a:schemeClr val="bg1"/>
              </a:solidFill>
              <a:latin typeface="+mn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8">
            <a:extLst>
              <a:ext uri="{FF2B5EF4-FFF2-40B4-BE49-F238E27FC236}">
                <a16:creationId xmlns:a16="http://schemas.microsoft.com/office/drawing/2014/main" id="{3188F398-9994-4AAE-F0F0-B8595E59DB09}"/>
              </a:ext>
            </a:extLst>
          </p:cNvPr>
          <p:cNvSpPr txBox="1"/>
          <p:nvPr/>
        </p:nvSpPr>
        <p:spPr>
          <a:xfrm>
            <a:off x="684000" y="299957"/>
            <a:ext cx="2088000" cy="4719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CONTENTS</a:t>
            </a:r>
          </a:p>
        </p:txBody>
      </p:sp>
      <p:sp>
        <p:nvSpPr>
          <p:cNvPr id="3" name="TextBox 28">
            <a:extLst>
              <a:ext uri="{FF2B5EF4-FFF2-40B4-BE49-F238E27FC236}">
                <a16:creationId xmlns:a16="http://schemas.microsoft.com/office/drawing/2014/main" id="{17A79FF9-3783-3FEB-2734-A9685346DDAD}"/>
              </a:ext>
            </a:extLst>
          </p:cNvPr>
          <p:cNvSpPr txBox="1"/>
          <p:nvPr/>
        </p:nvSpPr>
        <p:spPr>
          <a:xfrm>
            <a:off x="756000" y="1275881"/>
            <a:ext cx="7632000" cy="21475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Background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Objectives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Process</a:t>
            </a:r>
          </a:p>
          <a:p>
            <a:pPr marL="457200" indent="-45720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Timeline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2664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BACKGROUND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760766" y="1419881"/>
            <a:ext cx="7632000" cy="21475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Pendulum is important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Simple pendulum?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Compound pendulum?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With damping</a:t>
            </a:r>
          </a:p>
        </p:txBody>
      </p:sp>
      <p:sp>
        <p:nvSpPr>
          <p:cNvPr id="2" name="TextBox 28">
            <a:extLst>
              <a:ext uri="{FF2B5EF4-FFF2-40B4-BE49-F238E27FC236}">
                <a16:creationId xmlns:a16="http://schemas.microsoft.com/office/drawing/2014/main" id="{281A6EBA-FD9E-E0E5-CFB4-BEB22AC0096B}"/>
              </a:ext>
            </a:extLst>
          </p:cNvPr>
          <p:cNvSpPr txBox="1"/>
          <p:nvPr/>
        </p:nvSpPr>
        <p:spPr>
          <a:xfrm>
            <a:off x="5508000" y="1973879"/>
            <a:ext cx="2520000" cy="15935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Not major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Ideal model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Liquid</a:t>
            </a:r>
          </a:p>
        </p:txBody>
      </p:sp>
    </p:spTree>
    <p:extLst>
      <p:ext uri="{BB962C8B-B14F-4D97-AF65-F5344CB8AC3E}">
        <p14:creationId xmlns:p14="http://schemas.microsoft.com/office/powerpoint/2010/main" val="181914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2664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OBJECTIVES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8">
                <a:extLst>
                  <a:ext uri="{FF2B5EF4-FFF2-40B4-BE49-F238E27FC236}">
                    <a16:creationId xmlns:a16="http://schemas.microsoft.com/office/drawing/2014/main" id="{C5DF8124-0CA9-3E8B-79A1-35B8A4ED9AB5}"/>
                  </a:ext>
                </a:extLst>
              </p:cNvPr>
              <p:cNvSpPr txBox="1"/>
              <p:nvPr/>
            </p:nvSpPr>
            <p:spPr>
              <a:xfrm>
                <a:off x="756000" y="1491881"/>
                <a:ext cx="7632000" cy="29390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zh-CN"/>
                </a:defPPr>
                <a:lvl1pPr algn="r">
                  <a:defRPr sz="260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Compound pendulum + Liquid damping</a:t>
                </a:r>
              </a:p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Calculation + Experiments: Verify formula</a:t>
                </a:r>
              </a:p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Liquid friction: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𝒇</m:t>
                    </m:r>
                    <m:r>
                      <a:rPr lang="el-GR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lt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lt"/>
                          </a:rPr>
                          <m:t>𝟐</m:t>
                        </m:r>
                      </m:den>
                    </m:f>
                    <m:r>
                      <a:rPr lang="en-US" altLang="zh-CN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+mn-lt"/>
                      </a:rPr>
                      <m:t>𝝆</m:t>
                    </m:r>
                    <m:r>
                      <a:rPr lang="en-US" altLang="zh-CN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+mn-lt"/>
                      </a:rPr>
                      <m:t>𝑪</m:t>
                    </m:r>
                    <m:sSubSup>
                      <m:sSubSupPr>
                        <m:ctrlP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lt"/>
                          </a:rPr>
                        </m:ctrlPr>
                      </m:sSubSupPr>
                      <m:e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lt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lt"/>
                          </a:rPr>
                          <m:t>𝒔</m:t>
                        </m:r>
                      </m:sub>
                      <m:sup>
                        <m:r>
                          <a:rPr lang="en-US" altLang="zh-CN" sz="2400" b="1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+mn-lt"/>
                          </a:rPr>
                          <m:t>𝟐</m:t>
                        </m:r>
                      </m:sup>
                    </m:sSubSup>
                  </m:oMath>
                </a14:m>
                <a:endParaRPr lang="en-US" altLang="zh-CN" sz="2400" b="1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  <a:p>
                <a:pPr algn="l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b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Pendulum period</a:t>
                </a:r>
                <a:r>
                  <a:rPr lang="en-US" altLang="zh-CN" sz="2400" b="1" i="1" dirty="0">
                    <a:solidFill>
                      <a:schemeClr val="tx1"/>
                    </a:solidFill>
                    <a:latin typeface="+mn-lt"/>
                    <a:ea typeface="微软雅黑"/>
                    <a:cs typeface="Times New Roman" panose="02020603050405020304" pitchFamily="18" charset="0"/>
                    <a:sym typeface="+mn-lt"/>
                  </a:rPr>
                  <a:t>: T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𝟐</m:t>
                    </m:r>
                    <m:r>
                      <a:rPr lang="el-GR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cs typeface="Times New Roman" panose="02020603050405020304" pitchFamily="18" charset="0"/>
                        <a:sym typeface="+mn-lt"/>
                      </a:rPr>
                      <m:t>𝝅</m:t>
                    </m:r>
                    <m:rad>
                      <m:radPr>
                        <m:degHide m:val="on"/>
                        <m:ctrlPr>
                          <a:rPr lang="el-GR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/>
                            <a:cs typeface="Times New Roman" panose="02020603050405020304" pitchFamily="18" charset="0"/>
                            <a:sym typeface="+mn-lt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l-GR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Times New Roman" panose="02020603050405020304" pitchFamily="18" charset="0"/>
                                <a:sym typeface="+mn-lt"/>
                              </a:rPr>
                            </m:ctrlPr>
                          </m:fPr>
                          <m:num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Times New Roman" panose="02020603050405020304" pitchFamily="18" charset="0"/>
                                <a:sym typeface="+mn-lt"/>
                              </a:rPr>
                              <m:t>𝑰</m:t>
                            </m:r>
                          </m:num>
                          <m:den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Times New Roman" panose="02020603050405020304" pitchFamily="18" charset="0"/>
                                <a:sym typeface="+mn-lt"/>
                              </a:rPr>
                              <m:t>𝒎𝒈𝑳</m:t>
                            </m:r>
                          </m:den>
                        </m:f>
                      </m:e>
                    </m:rad>
                  </m:oMath>
                </a14:m>
                <a:endParaRPr lang="en-US" altLang="zh-CN" sz="2400" b="1" i="1" dirty="0">
                  <a:solidFill>
                    <a:schemeClr val="tx1"/>
                  </a:solidFill>
                  <a:latin typeface="+mn-lt"/>
                  <a:ea typeface="微软雅黑"/>
                  <a:cs typeface="Times New Roman" panose="02020603050405020304" pitchFamily="18" charset="0"/>
                  <a:sym typeface="+mn-lt"/>
                </a:endParaRPr>
              </a:p>
            </p:txBody>
          </p:sp>
        </mc:Choice>
        <mc:Fallback xmlns="">
          <p:sp>
            <p:nvSpPr>
              <p:cNvPr id="4" name="TextBox 28">
                <a:extLst>
                  <a:ext uri="{FF2B5EF4-FFF2-40B4-BE49-F238E27FC236}">
                    <a16:creationId xmlns:a16="http://schemas.microsoft.com/office/drawing/2014/main" id="{C5DF8124-0CA9-3E8B-79A1-35B8A4ED9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00" y="1491881"/>
                <a:ext cx="7632000" cy="2939074"/>
              </a:xfrm>
              <a:prstGeom prst="rect">
                <a:avLst/>
              </a:prstGeom>
              <a:blipFill>
                <a:blip r:embed="rId3"/>
                <a:stretch>
                  <a:fillRect l="-2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25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176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PROCESS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756000" y="915881"/>
            <a:ext cx="7632000" cy="46576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Basic assumptions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Cross area: a square 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g value constant 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No extension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Be soaked in liquid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600" b="1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No rolling friction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Same type of liquid: water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ea typeface="微软雅黑"/>
                <a:cs typeface="Times New Roman" panose="02020603050405020304" pitchFamily="18" charset="0"/>
                <a:sym typeface="+mn-lt"/>
              </a:rPr>
              <a:t>Research method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1600" b="1" dirty="0">
                <a:ea typeface="微软雅黑"/>
                <a:cs typeface="Times New Roman" panose="02020603050405020304" pitchFamily="18" charset="0"/>
                <a:sym typeface="+mn-lt"/>
              </a:rPr>
              <a:t>Quantitative research, Control Variables Method</a:t>
            </a:r>
            <a:endParaRPr lang="en-US" altLang="zh-CN" sz="1600" b="1" dirty="0">
              <a:solidFill>
                <a:schemeClr val="tx1"/>
              </a:solidFill>
              <a:ea typeface="微软雅黑"/>
              <a:cs typeface="Times New Roman" panose="02020603050405020304" pitchFamily="18" charset="0"/>
              <a:sym typeface="+mn-lt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Resource needed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Mainly from websites</a:t>
            </a:r>
          </a:p>
        </p:txBody>
      </p:sp>
    </p:spTree>
    <p:extLst>
      <p:ext uri="{BB962C8B-B14F-4D97-AF65-F5344CB8AC3E}">
        <p14:creationId xmlns:p14="http://schemas.microsoft.com/office/powerpoint/2010/main" val="310814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176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RESEARCH PROCESS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C5DF8124-0CA9-3E8B-79A1-35B8A4ED9AB5}"/>
              </a:ext>
            </a:extLst>
          </p:cNvPr>
          <p:cNvSpPr txBox="1"/>
          <p:nvPr/>
        </p:nvSpPr>
        <p:spPr>
          <a:xfrm>
            <a:off x="756000" y="1131881"/>
            <a:ext cx="7632000" cy="43401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1. Read papers.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2. Deduce formula.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extreme, normal, and boundaries</a:t>
            </a:r>
            <a:endParaRPr lang="zh-CN" altLang="en-US" b="1" dirty="0">
              <a:solidFill>
                <a:schemeClr val="tx1"/>
              </a:solidFill>
              <a:latin typeface="+mn-lt"/>
              <a:ea typeface="微软雅黑"/>
              <a:cs typeface="Times New Roman" panose="02020603050405020304" pitchFamily="18" charset="0"/>
              <a:sym typeface="+mn-lt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3. Experiment.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Design, list cautions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4. Analyze data. 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plot data, draw formula answers, compare</a:t>
            </a:r>
          </a:p>
          <a:p>
            <a:pPr marL="34290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5. Conclude.</a:t>
            </a:r>
          </a:p>
          <a:p>
            <a:pPr marL="800100" lvl="1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Mistakes?  How to improve?</a:t>
            </a:r>
          </a:p>
        </p:txBody>
      </p:sp>
    </p:spTree>
    <p:extLst>
      <p:ext uri="{BB962C8B-B14F-4D97-AF65-F5344CB8AC3E}">
        <p14:creationId xmlns:p14="http://schemas.microsoft.com/office/powerpoint/2010/main" val="13034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7EFD28B5-CFF6-090C-8356-F1315F5F77C5}"/>
              </a:ext>
            </a:extLst>
          </p:cNvPr>
          <p:cNvSpPr txBox="1"/>
          <p:nvPr/>
        </p:nvSpPr>
        <p:spPr>
          <a:xfrm>
            <a:off x="684000" y="299957"/>
            <a:ext cx="4176000" cy="469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/>
                <a:cs typeface="Times New Roman" panose="02020603050405020304" pitchFamily="18" charset="0"/>
                <a:sym typeface="+mn-lt"/>
              </a:rPr>
              <a:t>TIMELINE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B20E903-DC47-A7C8-1B4C-32554DE9A8B1}"/>
              </a:ext>
            </a:extLst>
          </p:cNvPr>
          <p:cNvCxnSpPr/>
          <p:nvPr/>
        </p:nvCxnSpPr>
        <p:spPr>
          <a:xfrm>
            <a:off x="180000" y="3250009"/>
            <a:ext cx="8784000" cy="0"/>
          </a:xfrm>
          <a:prstGeom prst="straightConnector1">
            <a:avLst/>
          </a:prstGeom>
          <a:ln w="57150">
            <a:solidFill>
              <a:srgbClr val="A0222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标注: 上箭头 5">
            <a:extLst>
              <a:ext uri="{FF2B5EF4-FFF2-40B4-BE49-F238E27FC236}">
                <a16:creationId xmlns:a16="http://schemas.microsoft.com/office/drawing/2014/main" id="{74024AA1-238D-95B0-2B97-DB7DC2A50A03}"/>
              </a:ext>
            </a:extLst>
          </p:cNvPr>
          <p:cNvSpPr/>
          <p:nvPr/>
        </p:nvSpPr>
        <p:spPr>
          <a:xfrm>
            <a:off x="220128" y="3261487"/>
            <a:ext cx="2520000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FFFFFF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2023.07-08:</a:t>
            </a:r>
          </a:p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Determine research topic, make the first step to the question,</a:t>
            </a:r>
          </a:p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have a basic understanding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标注: 下箭头 6">
            <a:extLst>
              <a:ext uri="{FF2B5EF4-FFF2-40B4-BE49-F238E27FC236}">
                <a16:creationId xmlns:a16="http://schemas.microsoft.com/office/drawing/2014/main" id="{CC07C651-D4FB-28C9-AA7E-BE24B142748B}"/>
              </a:ext>
            </a:extLst>
          </p:cNvPr>
          <p:cNvSpPr/>
          <p:nvPr/>
        </p:nvSpPr>
        <p:spPr>
          <a:xfrm>
            <a:off x="753166" y="1048408"/>
            <a:ext cx="250886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chemeClr val="bg1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2023.09-10:</a:t>
            </a:r>
          </a:p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Collect references, work out the first version of formula about the pendulum 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标注: 上箭头 7">
            <a:extLst>
              <a:ext uri="{FF2B5EF4-FFF2-40B4-BE49-F238E27FC236}">
                <a16:creationId xmlns:a16="http://schemas.microsoft.com/office/drawing/2014/main" id="{1B9F08DF-0AD1-2CBC-36AA-25BD908ADDCA}"/>
              </a:ext>
            </a:extLst>
          </p:cNvPr>
          <p:cNvSpPr/>
          <p:nvPr/>
        </p:nvSpPr>
        <p:spPr>
          <a:xfrm>
            <a:off x="2812128" y="3261487"/>
            <a:ext cx="3096000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FFFFFF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2023.11-12:</a:t>
            </a:r>
          </a:p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Study how to plot graph and how to meet the needs of experiments(e.g. python+3d design)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标注: 下箭头 8">
            <a:extLst>
              <a:ext uri="{FF2B5EF4-FFF2-40B4-BE49-F238E27FC236}">
                <a16:creationId xmlns:a16="http://schemas.microsoft.com/office/drawing/2014/main" id="{94FE36C7-410F-A305-F1F8-D8B0F16E5EE7}"/>
              </a:ext>
            </a:extLst>
          </p:cNvPr>
          <p:cNvSpPr/>
          <p:nvPr/>
        </p:nvSpPr>
        <p:spPr>
          <a:xfrm>
            <a:off x="3365230" y="1048408"/>
            <a:ext cx="275894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chemeClr val="bg1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2023.12-24.01:</a:t>
            </a:r>
          </a:p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Design experiment, make theorical expectations, calculate various answers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标注: 上箭头 10">
            <a:extLst>
              <a:ext uri="{FF2B5EF4-FFF2-40B4-BE49-F238E27FC236}">
                <a16:creationId xmlns:a16="http://schemas.microsoft.com/office/drawing/2014/main" id="{673A8D96-C4DD-BD09-9B55-F3C712903478}"/>
              </a:ext>
            </a:extLst>
          </p:cNvPr>
          <p:cNvSpPr/>
          <p:nvPr/>
        </p:nvSpPr>
        <p:spPr>
          <a:xfrm>
            <a:off x="5980128" y="3261487"/>
            <a:ext cx="2695872" cy="2271923"/>
          </a:xfrm>
          <a:prstGeom prst="upArrowCallout">
            <a:avLst>
              <a:gd name="adj1" fmla="val 9163"/>
              <a:gd name="adj2" fmla="val 10707"/>
              <a:gd name="adj3" fmla="val 14840"/>
              <a:gd name="adj4" fmla="val 79294"/>
            </a:avLst>
          </a:prstGeom>
          <a:solidFill>
            <a:srgbClr val="FFFFFF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2024.01-02: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Complete experiment, check if any mistakes,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Draw graphs and compare the expectations with reality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标注: 下箭头 11">
            <a:extLst>
              <a:ext uri="{FF2B5EF4-FFF2-40B4-BE49-F238E27FC236}">
                <a16:creationId xmlns:a16="http://schemas.microsoft.com/office/drawing/2014/main" id="{3136E38C-37E4-58FC-498C-35E07D7868B1}"/>
              </a:ext>
            </a:extLst>
          </p:cNvPr>
          <p:cNvSpPr/>
          <p:nvPr/>
        </p:nvSpPr>
        <p:spPr>
          <a:xfrm>
            <a:off x="6277056" y="1066124"/>
            <a:ext cx="2758944" cy="2190124"/>
          </a:xfrm>
          <a:prstGeom prst="downArrowCallout">
            <a:avLst>
              <a:gd name="adj1" fmla="val 7963"/>
              <a:gd name="adj2" fmla="val 10625"/>
              <a:gd name="adj3" fmla="val 14988"/>
              <a:gd name="adj4" fmla="val 79088"/>
            </a:avLst>
          </a:prstGeom>
          <a:solidFill>
            <a:schemeClr val="bg1"/>
          </a:solidFill>
          <a:ln>
            <a:solidFill>
              <a:srgbClr val="AE0D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2024.03-04:</a:t>
            </a:r>
          </a:p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Analyze data, finish the essay, submit to tutor for final revision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11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968" y="2139881"/>
            <a:ext cx="7772400" cy="1021735"/>
          </a:xfrm>
        </p:spPr>
        <p:txBody>
          <a:bodyPr>
            <a:spAutoFit/>
          </a:bodyPr>
          <a:lstStyle/>
          <a:p>
            <a:pPr algn="l" eaLnBrk="1" latinLnBrk="0" hangingPunct="1">
              <a:lnSpc>
                <a:spcPct val="100000"/>
              </a:lnSpc>
            </a:pPr>
            <a:r>
              <a:rPr lang="en-US" altLang="zh-CN" sz="4400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Thank you for your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宋体"/>
      </a:majorFont>
      <a:minorFont>
        <a:latin typeface="Arial"/>
        <a:ea typeface="微软雅黑"/>
        <a:cs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square">
        <a:spAutoFit/>
      </a:bodyPr>
      <a:lstStyle>
        <a:defPPr algn="l">
          <a:lnSpc>
            <a:spcPct val="120000"/>
          </a:lnSpc>
          <a:buClr>
            <a:srgbClr val="C00000"/>
          </a:buClr>
          <a:defRPr sz="2000" dirty="0"/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1829</TotalTime>
  <Words>265</Words>
  <Application>Microsoft Office PowerPoint</Application>
  <PresentationFormat>自定义</PresentationFormat>
  <Paragraphs>61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微软雅黑</vt:lpstr>
      <vt:lpstr>Arial</vt:lpstr>
      <vt:lpstr>Calibri</vt:lpstr>
      <vt:lpstr>Cambria Math</vt:lpstr>
      <vt:lpstr>Wingdings</vt:lpstr>
      <vt:lpstr>默认设计模板</vt:lpstr>
      <vt:lpstr>The Effects on the Period of Compound Pendulum due to Liquid Damping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for your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670</cp:revision>
  <cp:lastPrinted>2113-01-01T00:00:00Z</cp:lastPrinted>
  <dcterms:created xsi:type="dcterms:W3CDTF">2015-03-13T08:02:00Z</dcterms:created>
  <dcterms:modified xsi:type="dcterms:W3CDTF">2023-08-14T13:55:23Z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2052-11.1.0.10463</vt:lpwstr>
  </property>
  <property fmtid="{D5CDD505-2E9C-101B-9397-08002B2CF9AE}" pid="4" name="ICV">
    <vt:lpwstr>478EF44DC9C741E780E5CA3644556A3A</vt:lpwstr>
  </property>
</Properties>
</file>