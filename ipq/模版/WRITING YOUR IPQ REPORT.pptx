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59" r:id="rId6"/>
    <p:sldId id="269" r:id="rId7"/>
    <p:sldId id="261" r:id="rId8"/>
    <p:sldId id="273" r:id="rId9"/>
    <p:sldId id="278" r:id="rId10"/>
    <p:sldId id="262" r:id="rId11"/>
    <p:sldId id="270" r:id="rId12"/>
    <p:sldId id="271" r:id="rId13"/>
    <p:sldId id="286" r:id="rId14"/>
    <p:sldId id="290" r:id="rId15"/>
    <p:sldId id="263" r:id="rId16"/>
    <p:sldId id="287" r:id="rId17"/>
    <p:sldId id="288" r:id="rId18"/>
    <p:sldId id="289" r:id="rId19"/>
    <p:sldId id="272" r:id="rId20"/>
    <p:sldId id="264" r:id="rId21"/>
    <p:sldId id="265" r:id="rId22"/>
    <p:sldId id="275" r:id="rId23"/>
    <p:sldId id="260" r:id="rId24"/>
    <p:sldId id="266" r:id="rId25"/>
    <p:sldId id="267" r:id="rId26"/>
    <p:sldId id="274" r:id="rId27"/>
    <p:sldId id="277" r:id="rId28"/>
    <p:sldId id="276" r:id="rId29"/>
    <p:sldId id="284" r:id="rId30"/>
    <p:sldId id="279" r:id="rId31"/>
    <p:sldId id="280" r:id="rId32"/>
    <p:sldId id="281" r:id="rId33"/>
    <p:sldId id="282" r:id="rId34"/>
    <p:sldId id="28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516A3-649D-B0AE-4422-4A1C829BD2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AFF79C0-BA25-4CDC-E255-D86B0E5B51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38CF5A5-D86F-51EE-1B3D-E3DACEB0AE6B}"/>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5" name="Footer Placeholder 4">
            <a:extLst>
              <a:ext uri="{FF2B5EF4-FFF2-40B4-BE49-F238E27FC236}">
                <a16:creationId xmlns:a16="http://schemas.microsoft.com/office/drawing/2014/main" id="{7F020D15-C0CA-4DFF-E2E7-943B23BB816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7CB2141-F13F-4680-8049-8A852F2ECC0A}"/>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1461569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E464F-0BB4-0E8A-074A-F31088B2D02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E7D16B2-5822-A16F-3957-CD304239E4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38ED85-782A-F1F6-F18C-58949787704B}"/>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5" name="Footer Placeholder 4">
            <a:extLst>
              <a:ext uri="{FF2B5EF4-FFF2-40B4-BE49-F238E27FC236}">
                <a16:creationId xmlns:a16="http://schemas.microsoft.com/office/drawing/2014/main" id="{8E076890-6145-72A7-9EBA-32A7E4C48CB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2B9B760-96B2-07E8-AA4A-09E93AC73BC1}"/>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2560835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F9ACB-0CAE-9EF1-3D0B-F8C278956E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5EACB3D-0D4C-49A0-6FBD-BEB1E2DB38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63168B-8862-14E2-D387-DD256F578069}"/>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5" name="Footer Placeholder 4">
            <a:extLst>
              <a:ext uri="{FF2B5EF4-FFF2-40B4-BE49-F238E27FC236}">
                <a16:creationId xmlns:a16="http://schemas.microsoft.com/office/drawing/2014/main" id="{BC0437C4-DA43-EC70-45F0-B6375750F64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B12CE70-1BAA-3034-E83B-BD8C49EE66AC}"/>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2077481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30950-A5B4-2CDF-5C47-0E1D6429381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294490D-C866-B470-1005-5E5A9C8436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C6F08B2-A7AA-3550-A7DE-9BD2550013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DE795F0-5EBE-92A3-B590-16D1BBFF216A}"/>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6" name="Footer Placeholder 5">
            <a:extLst>
              <a:ext uri="{FF2B5EF4-FFF2-40B4-BE49-F238E27FC236}">
                <a16:creationId xmlns:a16="http://schemas.microsoft.com/office/drawing/2014/main" id="{46850A10-08B7-D63C-B5A5-44E384F5A96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2F9A8053-7503-B377-1578-8007F6B1D738}"/>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3788611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283E-B418-35FA-8A4F-7D47FD372C1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A682EEB-1410-FE94-3159-2045DEF667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95DDD6-3155-7B37-71CC-902099A8B8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F9FB348-DCB2-A6B7-A70C-C91EE33F47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8188EE-8BE7-0985-B716-365466D2DD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D54270E-68A6-9A7E-0805-EB8B101514E1}"/>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8" name="Footer Placeholder 7">
            <a:extLst>
              <a:ext uri="{FF2B5EF4-FFF2-40B4-BE49-F238E27FC236}">
                <a16:creationId xmlns:a16="http://schemas.microsoft.com/office/drawing/2014/main" id="{3DA89926-3797-C16B-A58B-4CFD296D97B3}"/>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E7973D80-9B6A-80E9-7A66-7A49ED3AB996}"/>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3379023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0F29F-909C-DE70-D03C-BD83D0A5DAE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FBF96FC-DB66-A989-FA32-5C4B9B5FB2F9}"/>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4" name="Footer Placeholder 3">
            <a:extLst>
              <a:ext uri="{FF2B5EF4-FFF2-40B4-BE49-F238E27FC236}">
                <a16:creationId xmlns:a16="http://schemas.microsoft.com/office/drawing/2014/main" id="{6588D345-BFEA-D8B5-01D5-F495CB4B6FEE}"/>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40117E9D-9588-3152-C09A-D66C68A4CE75}"/>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821502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DB4CF3-CC57-28BD-9A5D-528D6C1123BD}"/>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3" name="Footer Placeholder 2">
            <a:extLst>
              <a:ext uri="{FF2B5EF4-FFF2-40B4-BE49-F238E27FC236}">
                <a16:creationId xmlns:a16="http://schemas.microsoft.com/office/drawing/2014/main" id="{52BD8D19-022B-9AA6-E94A-404EF1E5A93E}"/>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2C07AB04-6DF5-6DF2-5A44-8297FFFCA20E}"/>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1311546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4DD10-B2D7-4175-0465-DA302A9186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416CD7E-0049-9134-1A25-22C08A9244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B2BCCB2-086B-6BC1-1CC4-F04A2D9BB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60E854-DEC3-AE26-A9A8-AF36F0AC7D64}"/>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6" name="Footer Placeholder 5">
            <a:extLst>
              <a:ext uri="{FF2B5EF4-FFF2-40B4-BE49-F238E27FC236}">
                <a16:creationId xmlns:a16="http://schemas.microsoft.com/office/drawing/2014/main" id="{D1A61C5D-562C-C1B3-013D-CC48EE98F664}"/>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4D68DA6F-8EC8-696A-CD76-70E6262C0B4F}"/>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3508829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3F2CA-4A45-76F4-3339-8E2F2884F8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96D8B1-628B-1EE7-F38B-3D7F797036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A24CCEF3-C7C9-8240-FD05-2CD46EDB20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F1F717-C093-1103-5DBD-BA1C2DE22BD5}"/>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6" name="Footer Placeholder 5">
            <a:extLst>
              <a:ext uri="{FF2B5EF4-FFF2-40B4-BE49-F238E27FC236}">
                <a16:creationId xmlns:a16="http://schemas.microsoft.com/office/drawing/2014/main" id="{58148004-4344-CF48-98E6-000E0C5F599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7D737F15-059B-7235-9E0A-C080DABBCEF3}"/>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1680292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D2339-9B10-11FC-1DE8-EBE85F2CED0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1CA7BB9-C1A4-E163-0E1A-ADFCC7736E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7BFC11B-0AA2-5F83-D2F7-1AEA43827D13}"/>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5" name="Footer Placeholder 4">
            <a:extLst>
              <a:ext uri="{FF2B5EF4-FFF2-40B4-BE49-F238E27FC236}">
                <a16:creationId xmlns:a16="http://schemas.microsoft.com/office/drawing/2014/main" id="{DE6D6D0A-F01F-EFC2-DED9-57DEE37F0E0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E49C033-DFEE-1A6F-2791-2FA8B02C9C1F}"/>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1355062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AC0612-9880-4E68-A40B-5643B28C00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8860CF0-A497-EDE2-84C5-745CEDA88F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607F6C-BF56-358A-738D-C2A775C1715B}"/>
              </a:ext>
            </a:extLst>
          </p:cNvPr>
          <p:cNvSpPr>
            <a:spLocks noGrp="1"/>
          </p:cNvSpPr>
          <p:nvPr>
            <p:ph type="dt" sz="half" idx="10"/>
          </p:nvPr>
        </p:nvSpPr>
        <p:spPr/>
        <p:txBody>
          <a:bodyPr/>
          <a:lstStyle/>
          <a:p>
            <a:fld id="{321DBC32-58E6-4385-A8E9-C4064C3E09D0}" type="datetimeFigureOut">
              <a:rPr lang="en-GB" smtClean="0"/>
              <a:t>05/09/2023</a:t>
            </a:fld>
            <a:endParaRPr lang="en-GB" dirty="0"/>
          </a:p>
        </p:txBody>
      </p:sp>
      <p:sp>
        <p:nvSpPr>
          <p:cNvPr id="5" name="Footer Placeholder 4">
            <a:extLst>
              <a:ext uri="{FF2B5EF4-FFF2-40B4-BE49-F238E27FC236}">
                <a16:creationId xmlns:a16="http://schemas.microsoft.com/office/drawing/2014/main" id="{DDCC53B1-D8B5-5627-82FC-CA084B95129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E61967-9372-CC74-591B-A99C1A77ADEF}"/>
              </a:ext>
            </a:extLst>
          </p:cNvPr>
          <p:cNvSpPr>
            <a:spLocks noGrp="1"/>
          </p:cNvSpPr>
          <p:nvPr>
            <p:ph type="sldNum" sz="quarter" idx="12"/>
          </p:nvPr>
        </p:nvSpPr>
        <p:spPr/>
        <p:txBody>
          <a:bodyPr/>
          <a:lstStyle/>
          <a:p>
            <a:fld id="{2AFB0122-3B41-4399-8CB1-3001487DD4F1}" type="slidenum">
              <a:rPr lang="en-GB" smtClean="0"/>
              <a:t>‹#›</a:t>
            </a:fld>
            <a:endParaRPr lang="en-GB" dirty="0"/>
          </a:p>
        </p:txBody>
      </p:sp>
    </p:spTree>
    <p:extLst>
      <p:ext uri="{BB962C8B-B14F-4D97-AF65-F5344CB8AC3E}">
        <p14:creationId xmlns:p14="http://schemas.microsoft.com/office/powerpoint/2010/main" val="4255122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4C4BAA-2D36-F724-2A2A-2A8DC2691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A0AFA4F-22F7-6B04-8784-B206CC7C9B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7DB028-7664-8E95-5DAF-C786FF773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1DBC32-58E6-4385-A8E9-C4064C3E09D0}" type="datetimeFigureOut">
              <a:rPr lang="en-GB" smtClean="0"/>
              <a:t>05/09/2023</a:t>
            </a:fld>
            <a:endParaRPr lang="en-GB" dirty="0"/>
          </a:p>
        </p:txBody>
      </p:sp>
      <p:sp>
        <p:nvSpPr>
          <p:cNvPr id="5" name="Footer Placeholder 4">
            <a:extLst>
              <a:ext uri="{FF2B5EF4-FFF2-40B4-BE49-F238E27FC236}">
                <a16:creationId xmlns:a16="http://schemas.microsoft.com/office/drawing/2014/main" id="{1F33B185-2D42-9B64-1177-A5731058DD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50071AC2-1692-3A7C-659F-BC3191EBB9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FB0122-3B41-4399-8CB1-3001487DD4F1}" type="slidenum">
              <a:rPr lang="en-GB" smtClean="0"/>
              <a:t>‹#›</a:t>
            </a:fld>
            <a:endParaRPr lang="en-GB" dirty="0"/>
          </a:p>
        </p:txBody>
      </p:sp>
    </p:spTree>
    <p:extLst>
      <p:ext uri="{BB962C8B-B14F-4D97-AF65-F5344CB8AC3E}">
        <p14:creationId xmlns:p14="http://schemas.microsoft.com/office/powerpoint/2010/main" val="2962751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0A36A-E929-7BBD-8AAB-48CA1391E5F4}"/>
              </a:ext>
            </a:extLst>
          </p:cNvPr>
          <p:cNvSpPr>
            <a:spLocks noGrp="1"/>
          </p:cNvSpPr>
          <p:nvPr>
            <p:ph type="ctrTitle"/>
          </p:nvPr>
        </p:nvSpPr>
        <p:spPr/>
        <p:txBody>
          <a:bodyPr/>
          <a:lstStyle/>
          <a:p>
            <a:r>
              <a:rPr lang="en-GB" b="1" dirty="0"/>
              <a:t>WRITING YOUR IPQ REPORT</a:t>
            </a:r>
          </a:p>
        </p:txBody>
      </p:sp>
      <p:sp>
        <p:nvSpPr>
          <p:cNvPr id="3" name="Subtitle 2">
            <a:extLst>
              <a:ext uri="{FF2B5EF4-FFF2-40B4-BE49-F238E27FC236}">
                <a16:creationId xmlns:a16="http://schemas.microsoft.com/office/drawing/2014/main" id="{52B002F7-F536-22DB-4346-D504CF876887}"/>
              </a:ext>
            </a:extLst>
          </p:cNvPr>
          <p:cNvSpPr>
            <a:spLocks noGrp="1"/>
          </p:cNvSpPr>
          <p:nvPr>
            <p:ph type="subTitle" idx="1"/>
          </p:nvPr>
        </p:nvSpPr>
        <p:spPr>
          <a:xfrm>
            <a:off x="1524000" y="4079875"/>
            <a:ext cx="9144000" cy="1655762"/>
          </a:xfrm>
        </p:spPr>
        <p:txBody>
          <a:bodyPr>
            <a:normAutofit/>
          </a:bodyPr>
          <a:lstStyle/>
          <a:p>
            <a:r>
              <a:rPr lang="en-GB" sz="4000" b="1" dirty="0"/>
              <a:t>A GUIDE</a:t>
            </a:r>
          </a:p>
        </p:txBody>
      </p:sp>
    </p:spTree>
    <p:extLst>
      <p:ext uri="{BB962C8B-B14F-4D97-AF65-F5344CB8AC3E}">
        <p14:creationId xmlns:p14="http://schemas.microsoft.com/office/powerpoint/2010/main" val="150069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F2D86-0FD9-29D0-729A-466FD0956EC5}"/>
              </a:ext>
            </a:extLst>
          </p:cNvPr>
          <p:cNvSpPr>
            <a:spLocks noGrp="1"/>
          </p:cNvSpPr>
          <p:nvPr>
            <p:ph type="title"/>
          </p:nvPr>
        </p:nvSpPr>
        <p:spPr>
          <a:xfrm>
            <a:off x="838200" y="1"/>
            <a:ext cx="10515600" cy="927651"/>
          </a:xfrm>
        </p:spPr>
        <p:txBody>
          <a:bodyPr/>
          <a:lstStyle/>
          <a:p>
            <a:pPr algn="ctr"/>
            <a:r>
              <a:rPr lang="en-GB" b="1" dirty="0"/>
              <a:t>WORD COUNT</a:t>
            </a:r>
          </a:p>
        </p:txBody>
      </p:sp>
      <p:sp>
        <p:nvSpPr>
          <p:cNvPr id="3" name="Content Placeholder 2">
            <a:extLst>
              <a:ext uri="{FF2B5EF4-FFF2-40B4-BE49-F238E27FC236}">
                <a16:creationId xmlns:a16="http://schemas.microsoft.com/office/drawing/2014/main" id="{05A68BF9-B5C0-F5A1-CF49-38CC3A8B96D0}"/>
              </a:ext>
            </a:extLst>
          </p:cNvPr>
          <p:cNvSpPr>
            <a:spLocks noGrp="1"/>
          </p:cNvSpPr>
          <p:nvPr>
            <p:ph idx="1"/>
          </p:nvPr>
        </p:nvSpPr>
        <p:spPr>
          <a:xfrm>
            <a:off x="0" y="1033670"/>
            <a:ext cx="12192000" cy="5143293"/>
          </a:xfrm>
        </p:spPr>
        <p:txBody>
          <a:bodyPr/>
          <a:lstStyle/>
          <a:p>
            <a:r>
              <a:rPr lang="en-GB" dirty="0"/>
              <a:t>The word-limit for the whole report is </a:t>
            </a:r>
            <a:r>
              <a:rPr lang="en-GB" b="1" u="sng" dirty="0"/>
              <a:t>5000</a:t>
            </a:r>
            <a:r>
              <a:rPr lang="en-GB" dirty="0"/>
              <a:t> words.</a:t>
            </a:r>
          </a:p>
          <a:p>
            <a:endParaRPr lang="en-GB" dirty="0"/>
          </a:p>
          <a:p>
            <a:r>
              <a:rPr lang="en-GB" dirty="0"/>
              <a:t>This does </a:t>
            </a:r>
            <a:r>
              <a:rPr lang="en-GB" i="1" dirty="0"/>
              <a:t>not</a:t>
            </a:r>
            <a:r>
              <a:rPr lang="en-GB" dirty="0"/>
              <a:t> include the appendices, research log, or bibliography.</a:t>
            </a:r>
          </a:p>
          <a:p>
            <a:endParaRPr lang="en-GB" dirty="0"/>
          </a:p>
          <a:p>
            <a:r>
              <a:rPr lang="en-GB" dirty="0"/>
              <a:t>You may think this is a large word-count, that you’ll never write as many as 5000 words, or that you’ll get everything written with far less than 5000 words.</a:t>
            </a:r>
          </a:p>
          <a:p>
            <a:endParaRPr lang="en-GB" dirty="0"/>
          </a:p>
          <a:p>
            <a:r>
              <a:rPr lang="en-GB" dirty="0"/>
              <a:t>There is a lot however, that you need to do within this word limit…</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200107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04BAE-FC25-57E4-47ED-C3B0BAB1C41F}"/>
              </a:ext>
            </a:extLst>
          </p:cNvPr>
          <p:cNvSpPr>
            <a:spLocks noGrp="1"/>
          </p:cNvSpPr>
          <p:nvPr>
            <p:ph type="title"/>
          </p:nvPr>
        </p:nvSpPr>
        <p:spPr>
          <a:xfrm>
            <a:off x="838200" y="1"/>
            <a:ext cx="10515600" cy="1152938"/>
          </a:xfrm>
        </p:spPr>
        <p:txBody>
          <a:bodyPr/>
          <a:lstStyle/>
          <a:p>
            <a:pPr algn="ctr"/>
            <a:r>
              <a:rPr lang="en-GB" b="1" dirty="0"/>
              <a:t>JUSTIFY YOUR RESEARCH QUESTION</a:t>
            </a:r>
          </a:p>
        </p:txBody>
      </p:sp>
      <p:sp>
        <p:nvSpPr>
          <p:cNvPr id="3" name="Content Placeholder 2">
            <a:extLst>
              <a:ext uri="{FF2B5EF4-FFF2-40B4-BE49-F238E27FC236}">
                <a16:creationId xmlns:a16="http://schemas.microsoft.com/office/drawing/2014/main" id="{0472D5DC-4DC1-6CDC-9720-A9D00C80ADE5}"/>
              </a:ext>
            </a:extLst>
          </p:cNvPr>
          <p:cNvSpPr>
            <a:spLocks noGrp="1"/>
          </p:cNvSpPr>
          <p:nvPr>
            <p:ph idx="1"/>
          </p:nvPr>
        </p:nvSpPr>
        <p:spPr>
          <a:xfrm>
            <a:off x="0" y="1484242"/>
            <a:ext cx="12192000" cy="5373757"/>
          </a:xfrm>
        </p:spPr>
        <p:txBody>
          <a:bodyPr>
            <a:normAutofit/>
          </a:bodyPr>
          <a:lstStyle/>
          <a:p>
            <a:r>
              <a:rPr lang="en-GB" dirty="0"/>
              <a:t>You need to justify your research question.</a:t>
            </a:r>
          </a:p>
          <a:p>
            <a:endParaRPr lang="en-GB" dirty="0"/>
          </a:p>
          <a:p>
            <a:r>
              <a:rPr lang="en-GB" dirty="0"/>
              <a:t>Why have you chosen your research question?</a:t>
            </a:r>
          </a:p>
          <a:p>
            <a:endParaRPr lang="en-GB" dirty="0"/>
          </a:p>
          <a:p>
            <a:r>
              <a:rPr lang="en-GB" dirty="0"/>
              <a:t>Do not just say your interested in the topic!</a:t>
            </a:r>
          </a:p>
          <a:p>
            <a:endParaRPr lang="en-GB" dirty="0"/>
          </a:p>
          <a:p>
            <a:r>
              <a:rPr lang="en-GB" dirty="0"/>
              <a:t>You need to discuss the importance and relevance of your topic.</a:t>
            </a:r>
          </a:p>
          <a:p>
            <a:endParaRPr lang="en-GB" dirty="0"/>
          </a:p>
          <a:p>
            <a:r>
              <a:rPr lang="en-GB" dirty="0"/>
              <a:t>The more detailed your justification can be, the better!</a:t>
            </a:r>
          </a:p>
        </p:txBody>
      </p:sp>
    </p:spTree>
    <p:extLst>
      <p:ext uri="{BB962C8B-B14F-4D97-AF65-F5344CB8AC3E}">
        <p14:creationId xmlns:p14="http://schemas.microsoft.com/office/powerpoint/2010/main" val="20051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9BC600-0028-CD2C-525C-55274052F32B}"/>
              </a:ext>
            </a:extLst>
          </p:cNvPr>
          <p:cNvPicPr>
            <a:picLocks noChangeAspect="1"/>
          </p:cNvPicPr>
          <p:nvPr/>
        </p:nvPicPr>
        <p:blipFill>
          <a:blip r:embed="rId2"/>
          <a:stretch>
            <a:fillRect/>
          </a:stretch>
        </p:blipFill>
        <p:spPr>
          <a:xfrm>
            <a:off x="196711" y="106016"/>
            <a:ext cx="11743497" cy="2941983"/>
          </a:xfrm>
          <a:prstGeom prst="rect">
            <a:avLst/>
          </a:prstGeom>
        </p:spPr>
      </p:pic>
      <p:pic>
        <p:nvPicPr>
          <p:cNvPr id="7" name="Picture 6">
            <a:extLst>
              <a:ext uri="{FF2B5EF4-FFF2-40B4-BE49-F238E27FC236}">
                <a16:creationId xmlns:a16="http://schemas.microsoft.com/office/drawing/2014/main" id="{0D8BD8D9-DCD7-7FE8-E8F0-0F9952AA64F8}"/>
              </a:ext>
            </a:extLst>
          </p:cNvPr>
          <p:cNvPicPr>
            <a:picLocks noChangeAspect="1"/>
          </p:cNvPicPr>
          <p:nvPr/>
        </p:nvPicPr>
        <p:blipFill>
          <a:blip r:embed="rId3"/>
          <a:stretch>
            <a:fillRect/>
          </a:stretch>
        </p:blipFill>
        <p:spPr>
          <a:xfrm>
            <a:off x="196712" y="3187354"/>
            <a:ext cx="11743497" cy="3670646"/>
          </a:xfrm>
          <a:prstGeom prst="rect">
            <a:avLst/>
          </a:prstGeom>
        </p:spPr>
      </p:pic>
    </p:spTree>
    <p:extLst>
      <p:ext uri="{BB962C8B-B14F-4D97-AF65-F5344CB8AC3E}">
        <p14:creationId xmlns:p14="http://schemas.microsoft.com/office/powerpoint/2010/main" val="544856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6A7D3-9628-BCA2-AD35-12520ACE4A0B}"/>
              </a:ext>
            </a:extLst>
          </p:cNvPr>
          <p:cNvSpPr>
            <a:spLocks noGrp="1"/>
          </p:cNvSpPr>
          <p:nvPr>
            <p:ph type="title"/>
          </p:nvPr>
        </p:nvSpPr>
        <p:spPr>
          <a:xfrm>
            <a:off x="838200" y="1"/>
            <a:ext cx="10515600" cy="887895"/>
          </a:xfrm>
        </p:spPr>
        <p:txBody>
          <a:bodyPr/>
          <a:lstStyle/>
          <a:p>
            <a:pPr algn="ctr"/>
            <a:r>
              <a:rPr lang="en-GB" b="1" dirty="0"/>
              <a:t>JUSTIFY YOUR RESEARCH METHODOLOGY</a:t>
            </a:r>
          </a:p>
        </p:txBody>
      </p:sp>
      <p:sp>
        <p:nvSpPr>
          <p:cNvPr id="3" name="Content Placeholder 2">
            <a:extLst>
              <a:ext uri="{FF2B5EF4-FFF2-40B4-BE49-F238E27FC236}">
                <a16:creationId xmlns:a16="http://schemas.microsoft.com/office/drawing/2014/main" id="{5A4A1DE8-9A44-E643-B44D-B2648FA78394}"/>
              </a:ext>
            </a:extLst>
          </p:cNvPr>
          <p:cNvSpPr>
            <a:spLocks noGrp="1"/>
          </p:cNvSpPr>
          <p:nvPr>
            <p:ph idx="1"/>
          </p:nvPr>
        </p:nvSpPr>
        <p:spPr>
          <a:xfrm>
            <a:off x="0" y="1404730"/>
            <a:ext cx="12192000" cy="4772233"/>
          </a:xfrm>
        </p:spPr>
        <p:txBody>
          <a:bodyPr>
            <a:normAutofit fontScale="92500" lnSpcReduction="20000"/>
          </a:bodyPr>
          <a:lstStyle/>
          <a:p>
            <a:r>
              <a:rPr lang="en-GB" dirty="0"/>
              <a:t>You need to state clearly how you will research your topic (how you will research is the “methodology”).</a:t>
            </a:r>
          </a:p>
          <a:p>
            <a:endParaRPr lang="en-GB" dirty="0"/>
          </a:p>
          <a:p>
            <a:r>
              <a:rPr lang="en-GB" dirty="0"/>
              <a:t>It is not enough though, simply to state how you will research your topic, you need to justify your methodology too.</a:t>
            </a:r>
          </a:p>
          <a:p>
            <a:endParaRPr lang="en-GB" dirty="0"/>
          </a:p>
          <a:p>
            <a:r>
              <a:rPr lang="en-GB" dirty="0"/>
              <a:t>This methodology (like your research question) will need to be justified in detail.</a:t>
            </a:r>
          </a:p>
          <a:p>
            <a:endParaRPr lang="en-GB" dirty="0"/>
          </a:p>
          <a:p>
            <a:r>
              <a:rPr lang="en-GB" dirty="0"/>
              <a:t>Discuss the strengths of your research methodology.</a:t>
            </a:r>
          </a:p>
          <a:p>
            <a:endParaRPr lang="en-GB" dirty="0"/>
          </a:p>
          <a:p>
            <a:r>
              <a:rPr lang="en-GB" dirty="0"/>
              <a:t>Where relevant, link the strength of your methodology to specific areas to be researched.</a:t>
            </a:r>
          </a:p>
        </p:txBody>
      </p:sp>
    </p:spTree>
    <p:extLst>
      <p:ext uri="{BB962C8B-B14F-4D97-AF65-F5344CB8AC3E}">
        <p14:creationId xmlns:p14="http://schemas.microsoft.com/office/powerpoint/2010/main" val="208242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8E7AC9-C6E7-4D56-3933-54D8F1B84AC9}"/>
              </a:ext>
            </a:extLst>
          </p:cNvPr>
          <p:cNvPicPr>
            <a:picLocks noChangeAspect="1"/>
          </p:cNvPicPr>
          <p:nvPr/>
        </p:nvPicPr>
        <p:blipFill>
          <a:blip r:embed="rId2"/>
          <a:stretch>
            <a:fillRect/>
          </a:stretch>
        </p:blipFill>
        <p:spPr>
          <a:xfrm>
            <a:off x="340622" y="230255"/>
            <a:ext cx="9364887" cy="2406928"/>
          </a:xfrm>
          <a:prstGeom prst="rect">
            <a:avLst/>
          </a:prstGeom>
        </p:spPr>
      </p:pic>
      <p:pic>
        <p:nvPicPr>
          <p:cNvPr id="7" name="Picture 6">
            <a:extLst>
              <a:ext uri="{FF2B5EF4-FFF2-40B4-BE49-F238E27FC236}">
                <a16:creationId xmlns:a16="http://schemas.microsoft.com/office/drawing/2014/main" id="{852C4FCF-D824-8DAA-4AEE-F4187EF77039}"/>
              </a:ext>
            </a:extLst>
          </p:cNvPr>
          <p:cNvPicPr>
            <a:picLocks noChangeAspect="1"/>
          </p:cNvPicPr>
          <p:nvPr/>
        </p:nvPicPr>
        <p:blipFill>
          <a:blip r:embed="rId3"/>
          <a:stretch>
            <a:fillRect/>
          </a:stretch>
        </p:blipFill>
        <p:spPr>
          <a:xfrm>
            <a:off x="340622" y="3237673"/>
            <a:ext cx="9376509" cy="3390072"/>
          </a:xfrm>
          <a:prstGeom prst="rect">
            <a:avLst/>
          </a:prstGeom>
        </p:spPr>
      </p:pic>
    </p:spTree>
    <p:extLst>
      <p:ext uri="{BB962C8B-B14F-4D97-AF65-F5344CB8AC3E}">
        <p14:creationId xmlns:p14="http://schemas.microsoft.com/office/powerpoint/2010/main" val="277004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3A9E1-60EA-4B8E-E42E-E397D3CB4205}"/>
              </a:ext>
            </a:extLst>
          </p:cNvPr>
          <p:cNvSpPr>
            <a:spLocks noGrp="1"/>
          </p:cNvSpPr>
          <p:nvPr>
            <p:ph type="title"/>
          </p:nvPr>
        </p:nvSpPr>
        <p:spPr>
          <a:xfrm>
            <a:off x="838200" y="1"/>
            <a:ext cx="10515600" cy="901147"/>
          </a:xfrm>
        </p:spPr>
        <p:txBody>
          <a:bodyPr/>
          <a:lstStyle/>
          <a:p>
            <a:pPr algn="ctr"/>
            <a:r>
              <a:rPr lang="en-GB" b="1" dirty="0"/>
              <a:t>ANSWER THE QUESTION YOU SET YOURSELF!</a:t>
            </a:r>
          </a:p>
        </p:txBody>
      </p:sp>
      <p:sp>
        <p:nvSpPr>
          <p:cNvPr id="3" name="Content Placeholder 2">
            <a:extLst>
              <a:ext uri="{FF2B5EF4-FFF2-40B4-BE49-F238E27FC236}">
                <a16:creationId xmlns:a16="http://schemas.microsoft.com/office/drawing/2014/main" id="{E716282E-EC61-C904-E103-E9DBD933A373}"/>
              </a:ext>
            </a:extLst>
          </p:cNvPr>
          <p:cNvSpPr>
            <a:spLocks noGrp="1"/>
          </p:cNvSpPr>
          <p:nvPr>
            <p:ph idx="1"/>
          </p:nvPr>
        </p:nvSpPr>
        <p:spPr>
          <a:xfrm>
            <a:off x="0" y="901148"/>
            <a:ext cx="12192000" cy="5956851"/>
          </a:xfrm>
        </p:spPr>
        <p:txBody>
          <a:bodyPr/>
          <a:lstStyle/>
          <a:p>
            <a:r>
              <a:rPr lang="en-GB" dirty="0"/>
              <a:t>This may be obvious, but if, for example, your question asks about the cause air pollution in China, but your report was focused specifically, or even mainly on Beijing, have you really answered the question set? No, you have not!</a:t>
            </a:r>
          </a:p>
          <a:p>
            <a:pPr marL="0" indent="0">
              <a:buNone/>
            </a:pPr>
            <a:endParaRPr lang="en-GB" dirty="0"/>
          </a:p>
          <a:p>
            <a:r>
              <a:rPr lang="en-GB" dirty="0"/>
              <a:t>Focus on what the question specifically asks.</a:t>
            </a:r>
          </a:p>
          <a:p>
            <a:endParaRPr lang="en-GB" dirty="0"/>
          </a:p>
        </p:txBody>
      </p:sp>
    </p:spTree>
    <p:extLst>
      <p:ext uri="{BB962C8B-B14F-4D97-AF65-F5344CB8AC3E}">
        <p14:creationId xmlns:p14="http://schemas.microsoft.com/office/powerpoint/2010/main" val="2803568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6072CA-6930-516E-701B-E716C9F76E3A}"/>
              </a:ext>
            </a:extLst>
          </p:cNvPr>
          <p:cNvPicPr>
            <a:picLocks noChangeAspect="1"/>
          </p:cNvPicPr>
          <p:nvPr/>
        </p:nvPicPr>
        <p:blipFill>
          <a:blip r:embed="rId2"/>
          <a:stretch>
            <a:fillRect/>
          </a:stretch>
        </p:blipFill>
        <p:spPr>
          <a:xfrm>
            <a:off x="278628" y="3330230"/>
            <a:ext cx="11634743" cy="2858536"/>
          </a:xfrm>
          <a:prstGeom prst="rect">
            <a:avLst/>
          </a:prstGeom>
        </p:spPr>
      </p:pic>
      <p:pic>
        <p:nvPicPr>
          <p:cNvPr id="7" name="Picture 6">
            <a:extLst>
              <a:ext uri="{FF2B5EF4-FFF2-40B4-BE49-F238E27FC236}">
                <a16:creationId xmlns:a16="http://schemas.microsoft.com/office/drawing/2014/main" id="{967DD59B-C5B3-B834-43E9-174D9C4C7BFA}"/>
              </a:ext>
            </a:extLst>
          </p:cNvPr>
          <p:cNvPicPr>
            <a:picLocks noChangeAspect="1"/>
          </p:cNvPicPr>
          <p:nvPr/>
        </p:nvPicPr>
        <p:blipFill>
          <a:blip r:embed="rId3"/>
          <a:stretch>
            <a:fillRect/>
          </a:stretch>
        </p:blipFill>
        <p:spPr>
          <a:xfrm>
            <a:off x="1232452" y="464654"/>
            <a:ext cx="9157252" cy="1986998"/>
          </a:xfrm>
          <a:prstGeom prst="rect">
            <a:avLst/>
          </a:prstGeom>
        </p:spPr>
      </p:pic>
    </p:spTree>
    <p:extLst>
      <p:ext uri="{BB962C8B-B14F-4D97-AF65-F5344CB8AC3E}">
        <p14:creationId xmlns:p14="http://schemas.microsoft.com/office/powerpoint/2010/main" val="2276965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D0EF69-79FC-14FE-F87F-FAFC5C0CA8C1}"/>
              </a:ext>
            </a:extLst>
          </p:cNvPr>
          <p:cNvSpPr>
            <a:spLocks noGrp="1"/>
          </p:cNvSpPr>
          <p:nvPr>
            <p:ph idx="1"/>
          </p:nvPr>
        </p:nvSpPr>
        <p:spPr>
          <a:xfrm>
            <a:off x="0" y="0"/>
            <a:ext cx="12192000" cy="6858000"/>
          </a:xfrm>
        </p:spPr>
        <p:txBody>
          <a:bodyPr/>
          <a:lstStyle/>
          <a:p>
            <a:r>
              <a:rPr lang="en-GB" dirty="0"/>
              <a:t>One way to ensure you answer the question set, is to set the research question as the title of your report!</a:t>
            </a:r>
          </a:p>
          <a:p>
            <a:endParaRPr lang="en-GB" dirty="0"/>
          </a:p>
          <a:p>
            <a:r>
              <a:rPr lang="en-GB" dirty="0"/>
              <a:t>Remember though, to highlight the research question in the first paragraph of your report i.e., right at the very start.</a:t>
            </a:r>
          </a:p>
          <a:p>
            <a:endParaRPr lang="en-GB" dirty="0"/>
          </a:p>
          <a:p>
            <a:r>
              <a:rPr lang="en-GB" dirty="0"/>
              <a:t>Think also, how to phrase your research question e.g., if your report was on air pollution, which would be the better-phrased question:</a:t>
            </a:r>
          </a:p>
          <a:p>
            <a:pPr marL="0" indent="0">
              <a:buNone/>
            </a:pPr>
            <a:r>
              <a:rPr lang="en-GB" b="1" i="1" dirty="0"/>
              <a:t>	- “How can we deal with air pollution?”</a:t>
            </a:r>
          </a:p>
          <a:p>
            <a:pPr marL="0" indent="0">
              <a:buNone/>
            </a:pPr>
            <a:r>
              <a:rPr lang="en-GB" dirty="0"/>
              <a:t>	OR </a:t>
            </a:r>
          </a:p>
          <a:p>
            <a:pPr marL="0" indent="0">
              <a:buNone/>
            </a:pPr>
            <a:r>
              <a:rPr lang="en-GB" b="1" i="1" dirty="0"/>
              <a:t>	- “What is the best way to deal with air pollution?”</a:t>
            </a:r>
          </a:p>
        </p:txBody>
      </p:sp>
    </p:spTree>
    <p:extLst>
      <p:ext uri="{BB962C8B-B14F-4D97-AF65-F5344CB8AC3E}">
        <p14:creationId xmlns:p14="http://schemas.microsoft.com/office/powerpoint/2010/main" val="3672543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90BD5-8A1E-8485-47B2-4942894BAB95}"/>
              </a:ext>
            </a:extLst>
          </p:cNvPr>
          <p:cNvSpPr>
            <a:spLocks noGrp="1"/>
          </p:cNvSpPr>
          <p:nvPr>
            <p:ph type="title"/>
          </p:nvPr>
        </p:nvSpPr>
        <p:spPr/>
        <p:txBody>
          <a:bodyPr/>
          <a:lstStyle/>
          <a:p>
            <a:pPr algn="ctr"/>
            <a:r>
              <a:rPr lang="en-GB" b="1" dirty="0"/>
              <a:t>ANALYSIS</a:t>
            </a:r>
          </a:p>
        </p:txBody>
      </p:sp>
      <p:sp>
        <p:nvSpPr>
          <p:cNvPr id="3" name="Content Placeholder 2">
            <a:extLst>
              <a:ext uri="{FF2B5EF4-FFF2-40B4-BE49-F238E27FC236}">
                <a16:creationId xmlns:a16="http://schemas.microsoft.com/office/drawing/2014/main" id="{3615FC9B-EF81-6DA0-E1FE-B838F527E827}"/>
              </a:ext>
            </a:extLst>
          </p:cNvPr>
          <p:cNvSpPr>
            <a:spLocks noGrp="1"/>
          </p:cNvSpPr>
          <p:nvPr>
            <p:ph idx="1"/>
          </p:nvPr>
        </p:nvSpPr>
        <p:spPr>
          <a:xfrm>
            <a:off x="0" y="1825625"/>
            <a:ext cx="12192000" cy="4351338"/>
          </a:xfrm>
        </p:spPr>
        <p:txBody>
          <a:bodyPr/>
          <a:lstStyle/>
          <a:p>
            <a:r>
              <a:rPr lang="en-GB" dirty="0"/>
              <a:t>Analyse the information from your findings/information, and where relevant, link your analysis to the source you got your information from.</a:t>
            </a:r>
          </a:p>
          <a:p>
            <a:endParaRPr lang="en-GB" dirty="0"/>
          </a:p>
          <a:p>
            <a:r>
              <a:rPr lang="en-GB" dirty="0"/>
              <a:t>Use statistics to illustrate your findings, and analyse these.</a:t>
            </a:r>
          </a:p>
          <a:p>
            <a:endParaRPr lang="en-GB" dirty="0"/>
          </a:p>
          <a:p>
            <a:r>
              <a:rPr lang="en-GB" dirty="0"/>
              <a:t>You could also discuss here, if appropriate/relevant, whether your findings confirm/prove, expand on, change, or even disprove your initial/previous views and/or hypothesis.</a:t>
            </a:r>
          </a:p>
        </p:txBody>
      </p:sp>
    </p:spTree>
    <p:extLst>
      <p:ext uri="{BB962C8B-B14F-4D97-AF65-F5344CB8AC3E}">
        <p14:creationId xmlns:p14="http://schemas.microsoft.com/office/powerpoint/2010/main" val="4114965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81E949-6112-0FD8-F3C4-8302B15DA1F4}"/>
              </a:ext>
            </a:extLst>
          </p:cNvPr>
          <p:cNvPicPr>
            <a:picLocks noChangeAspect="1"/>
          </p:cNvPicPr>
          <p:nvPr/>
        </p:nvPicPr>
        <p:blipFill>
          <a:blip r:embed="rId2"/>
          <a:stretch>
            <a:fillRect/>
          </a:stretch>
        </p:blipFill>
        <p:spPr>
          <a:xfrm>
            <a:off x="331718" y="249513"/>
            <a:ext cx="11078404" cy="6375565"/>
          </a:xfrm>
          <a:prstGeom prst="rect">
            <a:avLst/>
          </a:prstGeom>
        </p:spPr>
      </p:pic>
    </p:spTree>
    <p:extLst>
      <p:ext uri="{BB962C8B-B14F-4D97-AF65-F5344CB8AC3E}">
        <p14:creationId xmlns:p14="http://schemas.microsoft.com/office/powerpoint/2010/main" val="2496810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025516-68F1-9E51-055C-1915ADA0B418}"/>
              </a:ext>
            </a:extLst>
          </p:cNvPr>
          <p:cNvPicPr>
            <a:picLocks noChangeAspect="1"/>
          </p:cNvPicPr>
          <p:nvPr/>
        </p:nvPicPr>
        <p:blipFill>
          <a:blip r:embed="rId2"/>
          <a:stretch>
            <a:fillRect/>
          </a:stretch>
        </p:blipFill>
        <p:spPr>
          <a:xfrm>
            <a:off x="543339" y="282237"/>
            <a:ext cx="10946296" cy="6343849"/>
          </a:xfrm>
          <a:prstGeom prst="rect">
            <a:avLst/>
          </a:prstGeom>
        </p:spPr>
      </p:pic>
    </p:spTree>
    <p:extLst>
      <p:ext uri="{BB962C8B-B14F-4D97-AF65-F5344CB8AC3E}">
        <p14:creationId xmlns:p14="http://schemas.microsoft.com/office/powerpoint/2010/main" val="2927596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72C61-4688-55F5-F452-69A57D2FC83D}"/>
              </a:ext>
            </a:extLst>
          </p:cNvPr>
          <p:cNvSpPr>
            <a:spLocks noGrp="1"/>
          </p:cNvSpPr>
          <p:nvPr>
            <p:ph type="title"/>
          </p:nvPr>
        </p:nvSpPr>
        <p:spPr>
          <a:xfrm>
            <a:off x="838200" y="1"/>
            <a:ext cx="10515600" cy="967408"/>
          </a:xfrm>
        </p:spPr>
        <p:txBody>
          <a:bodyPr/>
          <a:lstStyle/>
          <a:p>
            <a:pPr algn="ctr"/>
            <a:r>
              <a:rPr lang="en-GB" b="1" dirty="0"/>
              <a:t>EVALUATE YOUR SOURCES</a:t>
            </a:r>
          </a:p>
        </p:txBody>
      </p:sp>
      <p:sp>
        <p:nvSpPr>
          <p:cNvPr id="3" name="Content Placeholder 2">
            <a:extLst>
              <a:ext uri="{FF2B5EF4-FFF2-40B4-BE49-F238E27FC236}">
                <a16:creationId xmlns:a16="http://schemas.microsoft.com/office/drawing/2014/main" id="{485F4581-B593-BD05-7C43-0BF455E001E9}"/>
              </a:ext>
            </a:extLst>
          </p:cNvPr>
          <p:cNvSpPr>
            <a:spLocks noGrp="1"/>
          </p:cNvSpPr>
          <p:nvPr>
            <p:ph idx="1"/>
          </p:nvPr>
        </p:nvSpPr>
        <p:spPr>
          <a:xfrm>
            <a:off x="0" y="967409"/>
            <a:ext cx="12192000" cy="5890590"/>
          </a:xfrm>
        </p:spPr>
        <p:txBody>
          <a:bodyPr/>
          <a:lstStyle/>
          <a:p>
            <a:r>
              <a:rPr lang="en-GB" dirty="0"/>
              <a:t>As well as analysing your sources, you should also evaluate your sources. You can do this as an extension to your analysis. You can also evaluate sources all through your report, and reiterate some of this in your conclusion.</a:t>
            </a:r>
          </a:p>
          <a:p>
            <a:endParaRPr lang="en-GB" dirty="0"/>
          </a:p>
          <a:p>
            <a:r>
              <a:rPr lang="en-GB" dirty="0"/>
              <a:t>How do the sources influence your answer?</a:t>
            </a:r>
          </a:p>
          <a:p>
            <a:pPr marL="457200" lvl="1" indent="0">
              <a:buNone/>
            </a:pPr>
            <a:r>
              <a:rPr lang="en-GB" dirty="0"/>
              <a:t>- Are a lot of them from a particular school of thought?</a:t>
            </a:r>
          </a:p>
          <a:p>
            <a:pPr marL="457200" lvl="1" indent="0">
              <a:buNone/>
            </a:pPr>
            <a:r>
              <a:rPr lang="en-GB" dirty="0"/>
              <a:t>- Might you come to a different conclusion with different sources e.g., from different perspectives?</a:t>
            </a:r>
          </a:p>
          <a:p>
            <a:endParaRPr lang="en-GB" dirty="0"/>
          </a:p>
          <a:p>
            <a:r>
              <a:rPr lang="en-GB" dirty="0"/>
              <a:t>Ideally, you should have sources from different perspectives, but if these are difficult to come by, you could mention this in the evaluation, and explain why this is, and how this may have influenced/impacted your conclusion/answer to your question.</a:t>
            </a:r>
          </a:p>
        </p:txBody>
      </p:sp>
    </p:spTree>
    <p:extLst>
      <p:ext uri="{BB962C8B-B14F-4D97-AF65-F5344CB8AC3E}">
        <p14:creationId xmlns:p14="http://schemas.microsoft.com/office/powerpoint/2010/main" val="4215354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3EB683-1234-439F-647C-995064277025}"/>
              </a:ext>
            </a:extLst>
          </p:cNvPr>
          <p:cNvPicPr>
            <a:picLocks noGrp="1" noChangeAspect="1"/>
          </p:cNvPicPr>
          <p:nvPr>
            <p:ph idx="1"/>
          </p:nvPr>
        </p:nvPicPr>
        <p:blipFill>
          <a:blip r:embed="rId2"/>
          <a:stretch>
            <a:fillRect/>
          </a:stretch>
        </p:blipFill>
        <p:spPr>
          <a:xfrm>
            <a:off x="785681" y="1881808"/>
            <a:ext cx="10620637" cy="1547192"/>
          </a:xfrm>
        </p:spPr>
      </p:pic>
    </p:spTree>
    <p:extLst>
      <p:ext uri="{BB962C8B-B14F-4D97-AF65-F5344CB8AC3E}">
        <p14:creationId xmlns:p14="http://schemas.microsoft.com/office/powerpoint/2010/main" val="1596132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0A32F-82DE-FF95-1D0B-1F90912CD6D9}"/>
              </a:ext>
            </a:extLst>
          </p:cNvPr>
          <p:cNvSpPr>
            <a:spLocks noGrp="1"/>
          </p:cNvSpPr>
          <p:nvPr>
            <p:ph type="title"/>
          </p:nvPr>
        </p:nvSpPr>
        <p:spPr>
          <a:xfrm>
            <a:off x="838200" y="2"/>
            <a:ext cx="10515600" cy="681036"/>
          </a:xfrm>
        </p:spPr>
        <p:txBody>
          <a:bodyPr>
            <a:normAutofit fontScale="90000"/>
          </a:bodyPr>
          <a:lstStyle/>
          <a:p>
            <a:pPr algn="ctr"/>
            <a:r>
              <a:rPr lang="en-GB" b="1" dirty="0"/>
              <a:t>CONCLUSION</a:t>
            </a:r>
          </a:p>
        </p:txBody>
      </p:sp>
      <p:sp>
        <p:nvSpPr>
          <p:cNvPr id="3" name="Content Placeholder 2">
            <a:extLst>
              <a:ext uri="{FF2B5EF4-FFF2-40B4-BE49-F238E27FC236}">
                <a16:creationId xmlns:a16="http://schemas.microsoft.com/office/drawing/2014/main" id="{B5888DAF-93D1-B529-173A-CF6082498274}"/>
              </a:ext>
            </a:extLst>
          </p:cNvPr>
          <p:cNvSpPr>
            <a:spLocks noGrp="1"/>
          </p:cNvSpPr>
          <p:nvPr>
            <p:ph idx="1"/>
          </p:nvPr>
        </p:nvSpPr>
        <p:spPr>
          <a:xfrm>
            <a:off x="0" y="1113183"/>
            <a:ext cx="12192000" cy="5063780"/>
          </a:xfrm>
        </p:spPr>
        <p:txBody>
          <a:bodyPr/>
          <a:lstStyle/>
          <a:p>
            <a:r>
              <a:rPr lang="en-GB" dirty="0"/>
              <a:t>Your conclusion should include an actual answer to the question.</a:t>
            </a:r>
          </a:p>
        </p:txBody>
      </p:sp>
      <p:pic>
        <p:nvPicPr>
          <p:cNvPr id="5" name="Picture 4">
            <a:extLst>
              <a:ext uri="{FF2B5EF4-FFF2-40B4-BE49-F238E27FC236}">
                <a16:creationId xmlns:a16="http://schemas.microsoft.com/office/drawing/2014/main" id="{B7663569-26C8-F802-A854-465B7F1EB90F}"/>
              </a:ext>
            </a:extLst>
          </p:cNvPr>
          <p:cNvPicPr>
            <a:picLocks noChangeAspect="1"/>
          </p:cNvPicPr>
          <p:nvPr/>
        </p:nvPicPr>
        <p:blipFill>
          <a:blip r:embed="rId2"/>
          <a:stretch>
            <a:fillRect/>
          </a:stretch>
        </p:blipFill>
        <p:spPr>
          <a:xfrm>
            <a:off x="331304" y="1845564"/>
            <a:ext cx="10987347" cy="3017984"/>
          </a:xfrm>
          <a:prstGeom prst="rect">
            <a:avLst/>
          </a:prstGeom>
        </p:spPr>
      </p:pic>
    </p:spTree>
    <p:extLst>
      <p:ext uri="{BB962C8B-B14F-4D97-AF65-F5344CB8AC3E}">
        <p14:creationId xmlns:p14="http://schemas.microsoft.com/office/powerpoint/2010/main" val="3607402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52C31-D46A-AC7A-D21D-94182A97518A}"/>
              </a:ext>
            </a:extLst>
          </p:cNvPr>
          <p:cNvSpPr>
            <a:spLocks noGrp="1"/>
          </p:cNvSpPr>
          <p:nvPr>
            <p:ph type="title"/>
          </p:nvPr>
        </p:nvSpPr>
        <p:spPr>
          <a:xfrm>
            <a:off x="838200" y="1"/>
            <a:ext cx="10515600" cy="1007164"/>
          </a:xfrm>
        </p:spPr>
        <p:txBody>
          <a:bodyPr/>
          <a:lstStyle/>
          <a:p>
            <a:pPr algn="ctr"/>
            <a:r>
              <a:rPr lang="en-GB" b="1" dirty="0"/>
              <a:t>REFLECTION</a:t>
            </a:r>
          </a:p>
        </p:txBody>
      </p:sp>
      <p:sp>
        <p:nvSpPr>
          <p:cNvPr id="3" name="Content Placeholder 2">
            <a:extLst>
              <a:ext uri="{FF2B5EF4-FFF2-40B4-BE49-F238E27FC236}">
                <a16:creationId xmlns:a16="http://schemas.microsoft.com/office/drawing/2014/main" id="{A7A5A5DE-C0A7-FB9B-DC7B-9C6AB142FBA0}"/>
              </a:ext>
            </a:extLst>
          </p:cNvPr>
          <p:cNvSpPr>
            <a:spLocks noGrp="1"/>
          </p:cNvSpPr>
          <p:nvPr>
            <p:ph idx="1"/>
          </p:nvPr>
        </p:nvSpPr>
        <p:spPr>
          <a:xfrm>
            <a:off x="0" y="901148"/>
            <a:ext cx="12192000" cy="5956851"/>
          </a:xfrm>
        </p:spPr>
        <p:txBody>
          <a:bodyPr/>
          <a:lstStyle/>
          <a:p>
            <a:r>
              <a:rPr lang="en-GB" dirty="0"/>
              <a:t>After your conclusion, you should write a reflection.</a:t>
            </a:r>
          </a:p>
          <a:p>
            <a:endParaRPr lang="en-GB" dirty="0"/>
          </a:p>
          <a:p>
            <a:r>
              <a:rPr lang="en-GB" dirty="0"/>
              <a:t>The reflection can also be another good place to discuss whether your findings confirmed/proved, expanded on, changed, or even disproved your initial/previous views and/or hypothesis.</a:t>
            </a:r>
          </a:p>
          <a:p>
            <a:endParaRPr lang="en-GB" dirty="0"/>
          </a:p>
          <a:p>
            <a:r>
              <a:rPr lang="en-GB" dirty="0"/>
              <a:t>You should also discuss here the strengths and limitations of your study/research/methodology e.g., the reliability and/or validity of your sources.</a:t>
            </a:r>
          </a:p>
          <a:p>
            <a:endParaRPr lang="en-GB" dirty="0"/>
          </a:p>
          <a:p>
            <a:r>
              <a:rPr lang="en-GB" dirty="0"/>
              <a:t>Here too, you could consider if the limitations of your research influenced your conclusion, and if maybe a different approach may have led to a different, and possibly more accurate conclusion.</a:t>
            </a:r>
          </a:p>
          <a:p>
            <a:endParaRPr lang="en-GB" dirty="0"/>
          </a:p>
          <a:p>
            <a:endParaRPr lang="en-GB" dirty="0"/>
          </a:p>
        </p:txBody>
      </p:sp>
    </p:spTree>
    <p:extLst>
      <p:ext uri="{BB962C8B-B14F-4D97-AF65-F5344CB8AC3E}">
        <p14:creationId xmlns:p14="http://schemas.microsoft.com/office/powerpoint/2010/main" val="3613195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EFAF418-FAA8-70FE-CE8B-32E54C11AB97}"/>
              </a:ext>
            </a:extLst>
          </p:cNvPr>
          <p:cNvPicPr>
            <a:picLocks noGrp="1" noChangeAspect="1"/>
          </p:cNvPicPr>
          <p:nvPr>
            <p:ph idx="1"/>
          </p:nvPr>
        </p:nvPicPr>
        <p:blipFill>
          <a:blip r:embed="rId2"/>
          <a:stretch>
            <a:fillRect/>
          </a:stretch>
        </p:blipFill>
        <p:spPr>
          <a:xfrm>
            <a:off x="571039" y="371061"/>
            <a:ext cx="10799325" cy="6155402"/>
          </a:xfrm>
        </p:spPr>
      </p:pic>
    </p:spTree>
    <p:extLst>
      <p:ext uri="{BB962C8B-B14F-4D97-AF65-F5344CB8AC3E}">
        <p14:creationId xmlns:p14="http://schemas.microsoft.com/office/powerpoint/2010/main" val="4004466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BA743FD-A6D5-F91D-9FAC-3FBB4EF77159}"/>
              </a:ext>
            </a:extLst>
          </p:cNvPr>
          <p:cNvPicPr>
            <a:picLocks noGrp="1" noChangeAspect="1"/>
          </p:cNvPicPr>
          <p:nvPr>
            <p:ph idx="1"/>
          </p:nvPr>
        </p:nvPicPr>
        <p:blipFill>
          <a:blip r:embed="rId2"/>
          <a:stretch>
            <a:fillRect/>
          </a:stretch>
        </p:blipFill>
        <p:spPr>
          <a:xfrm>
            <a:off x="252241" y="198782"/>
            <a:ext cx="11687518" cy="3483217"/>
          </a:xfrm>
        </p:spPr>
      </p:pic>
      <p:pic>
        <p:nvPicPr>
          <p:cNvPr id="7" name="Picture 6">
            <a:extLst>
              <a:ext uri="{FF2B5EF4-FFF2-40B4-BE49-F238E27FC236}">
                <a16:creationId xmlns:a16="http://schemas.microsoft.com/office/drawing/2014/main" id="{BC41517A-38F2-F97E-214E-22ADE7CC9315}"/>
              </a:ext>
            </a:extLst>
          </p:cNvPr>
          <p:cNvPicPr>
            <a:picLocks noChangeAspect="1"/>
          </p:cNvPicPr>
          <p:nvPr/>
        </p:nvPicPr>
        <p:blipFill>
          <a:blip r:embed="rId3"/>
          <a:stretch>
            <a:fillRect/>
          </a:stretch>
        </p:blipFill>
        <p:spPr>
          <a:xfrm>
            <a:off x="252241" y="4121426"/>
            <a:ext cx="11687518" cy="2736574"/>
          </a:xfrm>
          <a:prstGeom prst="rect">
            <a:avLst/>
          </a:prstGeom>
        </p:spPr>
      </p:pic>
    </p:spTree>
    <p:extLst>
      <p:ext uri="{BB962C8B-B14F-4D97-AF65-F5344CB8AC3E}">
        <p14:creationId xmlns:p14="http://schemas.microsoft.com/office/powerpoint/2010/main" val="3501310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32ED2-B07C-2E70-4DC6-2E3054E59A1D}"/>
              </a:ext>
            </a:extLst>
          </p:cNvPr>
          <p:cNvSpPr>
            <a:spLocks noGrp="1"/>
          </p:cNvSpPr>
          <p:nvPr>
            <p:ph type="title"/>
          </p:nvPr>
        </p:nvSpPr>
        <p:spPr>
          <a:xfrm>
            <a:off x="838200" y="1"/>
            <a:ext cx="10515600" cy="675860"/>
          </a:xfrm>
        </p:spPr>
        <p:txBody>
          <a:bodyPr>
            <a:normAutofit fontScale="90000"/>
          </a:bodyPr>
          <a:lstStyle/>
          <a:p>
            <a:pPr algn="ctr"/>
            <a:r>
              <a:rPr lang="en-GB" b="1" dirty="0"/>
              <a:t>APPENDICES</a:t>
            </a:r>
          </a:p>
        </p:txBody>
      </p:sp>
      <p:sp>
        <p:nvSpPr>
          <p:cNvPr id="3" name="Content Placeholder 2">
            <a:extLst>
              <a:ext uri="{FF2B5EF4-FFF2-40B4-BE49-F238E27FC236}">
                <a16:creationId xmlns:a16="http://schemas.microsoft.com/office/drawing/2014/main" id="{03BB88FD-42B2-0D80-0DB1-C69FD7E9F739}"/>
              </a:ext>
            </a:extLst>
          </p:cNvPr>
          <p:cNvSpPr>
            <a:spLocks noGrp="1"/>
          </p:cNvSpPr>
          <p:nvPr>
            <p:ph idx="1"/>
          </p:nvPr>
        </p:nvSpPr>
        <p:spPr>
          <a:xfrm>
            <a:off x="0" y="675862"/>
            <a:ext cx="12192000" cy="6182138"/>
          </a:xfrm>
        </p:spPr>
        <p:txBody>
          <a:bodyPr/>
          <a:lstStyle/>
          <a:p>
            <a:r>
              <a:rPr lang="en-GB" dirty="0"/>
              <a:t>Use appendices, but think carefully what to put in them.</a:t>
            </a:r>
          </a:p>
          <a:p>
            <a:endParaRPr lang="en-GB" sz="600" dirty="0"/>
          </a:p>
          <a:p>
            <a:r>
              <a:rPr lang="en-GB" dirty="0"/>
              <a:t>Some charts and statistics may be good here, but some of these may be better inserted in the main body of the report.</a:t>
            </a:r>
          </a:p>
        </p:txBody>
      </p:sp>
      <p:pic>
        <p:nvPicPr>
          <p:cNvPr id="5" name="Picture 4">
            <a:extLst>
              <a:ext uri="{FF2B5EF4-FFF2-40B4-BE49-F238E27FC236}">
                <a16:creationId xmlns:a16="http://schemas.microsoft.com/office/drawing/2014/main" id="{EEA18DFB-3090-A50C-1578-9C6708702AF0}"/>
              </a:ext>
            </a:extLst>
          </p:cNvPr>
          <p:cNvPicPr>
            <a:picLocks noChangeAspect="1"/>
          </p:cNvPicPr>
          <p:nvPr/>
        </p:nvPicPr>
        <p:blipFill>
          <a:blip r:embed="rId2"/>
          <a:stretch>
            <a:fillRect/>
          </a:stretch>
        </p:blipFill>
        <p:spPr>
          <a:xfrm>
            <a:off x="2452273" y="2295732"/>
            <a:ext cx="6810375" cy="4333875"/>
          </a:xfrm>
          <a:prstGeom prst="rect">
            <a:avLst/>
          </a:prstGeom>
        </p:spPr>
      </p:pic>
    </p:spTree>
    <p:extLst>
      <p:ext uri="{BB962C8B-B14F-4D97-AF65-F5344CB8AC3E}">
        <p14:creationId xmlns:p14="http://schemas.microsoft.com/office/powerpoint/2010/main" val="2761599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B299D-B482-868F-8E73-B39D73E5554B}"/>
              </a:ext>
            </a:extLst>
          </p:cNvPr>
          <p:cNvSpPr>
            <a:spLocks noGrp="1"/>
          </p:cNvSpPr>
          <p:nvPr>
            <p:ph type="title"/>
          </p:nvPr>
        </p:nvSpPr>
        <p:spPr>
          <a:xfrm>
            <a:off x="838200" y="1"/>
            <a:ext cx="10515600" cy="980660"/>
          </a:xfrm>
        </p:spPr>
        <p:txBody>
          <a:bodyPr/>
          <a:lstStyle/>
          <a:p>
            <a:pPr algn="ctr"/>
            <a:r>
              <a:rPr lang="en-GB" b="1" dirty="0"/>
              <a:t>RESEARCH LOG</a:t>
            </a:r>
          </a:p>
        </p:txBody>
      </p:sp>
      <p:sp>
        <p:nvSpPr>
          <p:cNvPr id="3" name="Content Placeholder 2">
            <a:extLst>
              <a:ext uri="{FF2B5EF4-FFF2-40B4-BE49-F238E27FC236}">
                <a16:creationId xmlns:a16="http://schemas.microsoft.com/office/drawing/2014/main" id="{596A4383-A984-F558-9574-99016858AF06}"/>
              </a:ext>
            </a:extLst>
          </p:cNvPr>
          <p:cNvSpPr>
            <a:spLocks noGrp="1"/>
          </p:cNvSpPr>
          <p:nvPr>
            <p:ph idx="1"/>
          </p:nvPr>
        </p:nvSpPr>
        <p:spPr>
          <a:xfrm>
            <a:off x="0" y="887896"/>
            <a:ext cx="12192000" cy="5970103"/>
          </a:xfrm>
        </p:spPr>
        <p:txBody>
          <a:bodyPr/>
          <a:lstStyle/>
          <a:p>
            <a:r>
              <a:rPr lang="en-GB" dirty="0"/>
              <a:t>This is your record of your progress, with what sources you consult, when you consult them, and how they help with your research.</a:t>
            </a:r>
          </a:p>
          <a:p>
            <a:endParaRPr lang="en-GB" dirty="0"/>
          </a:p>
          <a:p>
            <a:r>
              <a:rPr lang="en-GB" dirty="0"/>
              <a:t>Do not just say what sources you looked at and when, but discuss also how the research and individual sources help your research e.g., provide evidence to support your argument, or even show evidence that disproves your hypothesis (which can happen even in a PhD thesis, or post-doctoral research).</a:t>
            </a:r>
          </a:p>
          <a:p>
            <a:endParaRPr lang="en-GB" dirty="0"/>
          </a:p>
          <a:p>
            <a:r>
              <a:rPr lang="en-GB" dirty="0"/>
              <a:t>The research log should also show evidence of planning.</a:t>
            </a:r>
          </a:p>
        </p:txBody>
      </p:sp>
    </p:spTree>
    <p:extLst>
      <p:ext uri="{BB962C8B-B14F-4D97-AF65-F5344CB8AC3E}">
        <p14:creationId xmlns:p14="http://schemas.microsoft.com/office/powerpoint/2010/main" val="898640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1C9B0F-8153-65E7-E725-96577750A16A}"/>
              </a:ext>
            </a:extLst>
          </p:cNvPr>
          <p:cNvPicPr>
            <a:picLocks noChangeAspect="1"/>
          </p:cNvPicPr>
          <p:nvPr/>
        </p:nvPicPr>
        <p:blipFill>
          <a:blip r:embed="rId2"/>
          <a:stretch>
            <a:fillRect/>
          </a:stretch>
        </p:blipFill>
        <p:spPr>
          <a:xfrm>
            <a:off x="38100" y="2219325"/>
            <a:ext cx="11996726" cy="2419350"/>
          </a:xfrm>
          <a:prstGeom prst="rect">
            <a:avLst/>
          </a:prstGeom>
        </p:spPr>
      </p:pic>
      <p:pic>
        <p:nvPicPr>
          <p:cNvPr id="7" name="Picture 6">
            <a:extLst>
              <a:ext uri="{FF2B5EF4-FFF2-40B4-BE49-F238E27FC236}">
                <a16:creationId xmlns:a16="http://schemas.microsoft.com/office/drawing/2014/main" id="{7B652D93-9803-9778-A41C-52877D549BF9}"/>
              </a:ext>
            </a:extLst>
          </p:cNvPr>
          <p:cNvPicPr>
            <a:picLocks noChangeAspect="1"/>
          </p:cNvPicPr>
          <p:nvPr/>
        </p:nvPicPr>
        <p:blipFill>
          <a:blip r:embed="rId3"/>
          <a:stretch>
            <a:fillRect/>
          </a:stretch>
        </p:blipFill>
        <p:spPr>
          <a:xfrm>
            <a:off x="38099" y="160372"/>
            <a:ext cx="11996725" cy="1809750"/>
          </a:xfrm>
          <a:prstGeom prst="rect">
            <a:avLst/>
          </a:prstGeom>
        </p:spPr>
      </p:pic>
      <p:pic>
        <p:nvPicPr>
          <p:cNvPr id="9" name="Picture 8">
            <a:extLst>
              <a:ext uri="{FF2B5EF4-FFF2-40B4-BE49-F238E27FC236}">
                <a16:creationId xmlns:a16="http://schemas.microsoft.com/office/drawing/2014/main" id="{75BA06DE-06DA-BB92-78BA-716D14F5C2FD}"/>
              </a:ext>
            </a:extLst>
          </p:cNvPr>
          <p:cNvPicPr>
            <a:picLocks noChangeAspect="1"/>
          </p:cNvPicPr>
          <p:nvPr/>
        </p:nvPicPr>
        <p:blipFill>
          <a:blip r:embed="rId4"/>
          <a:stretch>
            <a:fillRect/>
          </a:stretch>
        </p:blipFill>
        <p:spPr>
          <a:xfrm>
            <a:off x="38100" y="5137081"/>
            <a:ext cx="11996726" cy="1422745"/>
          </a:xfrm>
          <a:prstGeom prst="rect">
            <a:avLst/>
          </a:prstGeom>
        </p:spPr>
      </p:pic>
    </p:spTree>
    <p:extLst>
      <p:ext uri="{BB962C8B-B14F-4D97-AF65-F5344CB8AC3E}">
        <p14:creationId xmlns:p14="http://schemas.microsoft.com/office/powerpoint/2010/main" val="3700205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42144A-2764-ABC1-6D0C-9C4789414D62}"/>
              </a:ext>
            </a:extLst>
          </p:cNvPr>
          <p:cNvPicPr>
            <a:picLocks noChangeAspect="1"/>
          </p:cNvPicPr>
          <p:nvPr/>
        </p:nvPicPr>
        <p:blipFill>
          <a:blip r:embed="rId2"/>
          <a:stretch>
            <a:fillRect/>
          </a:stretch>
        </p:blipFill>
        <p:spPr>
          <a:xfrm>
            <a:off x="728870" y="247628"/>
            <a:ext cx="10270434" cy="6342543"/>
          </a:xfrm>
          <a:prstGeom prst="rect">
            <a:avLst/>
          </a:prstGeom>
        </p:spPr>
      </p:pic>
    </p:spTree>
    <p:extLst>
      <p:ext uri="{BB962C8B-B14F-4D97-AF65-F5344CB8AC3E}">
        <p14:creationId xmlns:p14="http://schemas.microsoft.com/office/powerpoint/2010/main" val="629119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5A7FE-2534-5549-9F59-98BBB4663004}"/>
              </a:ext>
            </a:extLst>
          </p:cNvPr>
          <p:cNvSpPr>
            <a:spLocks noGrp="1"/>
          </p:cNvSpPr>
          <p:nvPr>
            <p:ph type="title"/>
          </p:nvPr>
        </p:nvSpPr>
        <p:spPr>
          <a:xfrm>
            <a:off x="838200" y="1"/>
            <a:ext cx="10515600" cy="742121"/>
          </a:xfrm>
        </p:spPr>
        <p:txBody>
          <a:bodyPr/>
          <a:lstStyle/>
          <a:p>
            <a:pPr algn="ctr"/>
            <a:r>
              <a:rPr lang="en-GB" b="1" dirty="0"/>
              <a:t>SOURCES</a:t>
            </a:r>
          </a:p>
        </p:txBody>
      </p:sp>
      <p:sp>
        <p:nvSpPr>
          <p:cNvPr id="3" name="Content Placeholder 2">
            <a:extLst>
              <a:ext uri="{FF2B5EF4-FFF2-40B4-BE49-F238E27FC236}">
                <a16:creationId xmlns:a16="http://schemas.microsoft.com/office/drawing/2014/main" id="{7D965874-0748-62A0-3AB0-CD1500142872}"/>
              </a:ext>
            </a:extLst>
          </p:cNvPr>
          <p:cNvSpPr>
            <a:spLocks noGrp="1"/>
          </p:cNvSpPr>
          <p:nvPr>
            <p:ph idx="1"/>
          </p:nvPr>
        </p:nvSpPr>
        <p:spPr>
          <a:xfrm>
            <a:off x="0" y="874644"/>
            <a:ext cx="12192000" cy="5983356"/>
          </a:xfrm>
        </p:spPr>
        <p:txBody>
          <a:bodyPr>
            <a:normAutofit fontScale="77500" lnSpcReduction="20000"/>
          </a:bodyPr>
          <a:lstStyle/>
          <a:p>
            <a:r>
              <a:rPr lang="en-GB" dirty="0"/>
              <a:t>Use suitable sources!</a:t>
            </a:r>
          </a:p>
          <a:p>
            <a:endParaRPr lang="en-GB" dirty="0"/>
          </a:p>
          <a:p>
            <a:r>
              <a:rPr lang="en-GB" dirty="0"/>
              <a:t>This is an academic paper, so you need to ensure that your sources are suitable for this.</a:t>
            </a:r>
          </a:p>
          <a:p>
            <a:endParaRPr lang="en-GB" dirty="0"/>
          </a:p>
          <a:p>
            <a:r>
              <a:rPr lang="en-GB" dirty="0"/>
              <a:t>Use a range of academic sources e.g., books, suitable video documentaries, and academic papers.</a:t>
            </a:r>
          </a:p>
          <a:p>
            <a:endParaRPr lang="en-GB" dirty="0"/>
          </a:p>
          <a:p>
            <a:r>
              <a:rPr lang="en-GB" dirty="0"/>
              <a:t>Do </a:t>
            </a:r>
            <a:r>
              <a:rPr lang="en-GB" b="1" i="1" dirty="0"/>
              <a:t>not</a:t>
            </a:r>
            <a:r>
              <a:rPr lang="en-GB" dirty="0"/>
              <a:t> use </a:t>
            </a:r>
            <a:r>
              <a:rPr lang="en-GB" i="1" dirty="0"/>
              <a:t>Wikipedia</a:t>
            </a:r>
            <a:r>
              <a:rPr lang="en-GB" dirty="0"/>
              <a:t>. This is okay as a starting point i.e., to help you gain an understanding of the subject material, but do </a:t>
            </a:r>
            <a:r>
              <a:rPr lang="en-GB" i="1" dirty="0"/>
              <a:t>not</a:t>
            </a:r>
            <a:r>
              <a:rPr lang="en-GB" dirty="0"/>
              <a:t> cite this in your bibliography!</a:t>
            </a:r>
          </a:p>
          <a:p>
            <a:endParaRPr lang="en-GB" dirty="0"/>
          </a:p>
          <a:p>
            <a:r>
              <a:rPr lang="en-GB" dirty="0"/>
              <a:t>Wikipedia articles should have a bibliography/list of articles for further reading at the end. Some of these articles may be good sources to consult, and would look much better cited in the bibliography.</a:t>
            </a:r>
          </a:p>
          <a:p>
            <a:endParaRPr lang="en-GB" dirty="0"/>
          </a:p>
          <a:p>
            <a:r>
              <a:rPr lang="en-GB" dirty="0"/>
              <a:t>Media sources, similarly, would merely support more academically rigorous material.</a:t>
            </a:r>
          </a:p>
          <a:p>
            <a:endParaRPr lang="en-GB" dirty="0"/>
          </a:p>
          <a:p>
            <a:r>
              <a:rPr lang="en-GB" dirty="0"/>
              <a:t>Make sure you include </a:t>
            </a:r>
            <a:r>
              <a:rPr lang="en-GB" i="1" dirty="0"/>
              <a:t>all</a:t>
            </a:r>
            <a:r>
              <a:rPr lang="en-GB" dirty="0"/>
              <a:t> source details in the bibliography.</a:t>
            </a:r>
          </a:p>
        </p:txBody>
      </p:sp>
    </p:spTree>
    <p:extLst>
      <p:ext uri="{BB962C8B-B14F-4D97-AF65-F5344CB8AC3E}">
        <p14:creationId xmlns:p14="http://schemas.microsoft.com/office/powerpoint/2010/main" val="1211326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ABF6C8-15E6-9217-865B-DAD7AB1E1EED}"/>
              </a:ext>
            </a:extLst>
          </p:cNvPr>
          <p:cNvPicPr>
            <a:picLocks noChangeAspect="1"/>
          </p:cNvPicPr>
          <p:nvPr/>
        </p:nvPicPr>
        <p:blipFill>
          <a:blip r:embed="rId2"/>
          <a:stretch>
            <a:fillRect/>
          </a:stretch>
        </p:blipFill>
        <p:spPr>
          <a:xfrm>
            <a:off x="768627" y="321836"/>
            <a:ext cx="10111408" cy="6205046"/>
          </a:xfrm>
          <a:prstGeom prst="rect">
            <a:avLst/>
          </a:prstGeom>
        </p:spPr>
      </p:pic>
    </p:spTree>
    <p:extLst>
      <p:ext uri="{BB962C8B-B14F-4D97-AF65-F5344CB8AC3E}">
        <p14:creationId xmlns:p14="http://schemas.microsoft.com/office/powerpoint/2010/main" val="1701420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3AB8B71-56CA-E98B-CE0C-639BDFFEEB48}"/>
              </a:ext>
            </a:extLst>
          </p:cNvPr>
          <p:cNvPicPr>
            <a:picLocks noGrp="1" noChangeAspect="1"/>
          </p:cNvPicPr>
          <p:nvPr>
            <p:ph idx="1"/>
          </p:nvPr>
        </p:nvPicPr>
        <p:blipFill>
          <a:blip r:embed="rId2"/>
          <a:stretch>
            <a:fillRect/>
          </a:stretch>
        </p:blipFill>
        <p:spPr>
          <a:xfrm>
            <a:off x="702366" y="692657"/>
            <a:ext cx="10853414" cy="5641882"/>
          </a:xfrm>
        </p:spPr>
      </p:pic>
    </p:spTree>
    <p:extLst>
      <p:ext uri="{BB962C8B-B14F-4D97-AF65-F5344CB8AC3E}">
        <p14:creationId xmlns:p14="http://schemas.microsoft.com/office/powerpoint/2010/main" val="1042488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11E1DE-820F-843E-9BB2-42664AD176A9}"/>
              </a:ext>
            </a:extLst>
          </p:cNvPr>
          <p:cNvPicPr>
            <a:picLocks noChangeAspect="1"/>
          </p:cNvPicPr>
          <p:nvPr/>
        </p:nvPicPr>
        <p:blipFill>
          <a:blip r:embed="rId2"/>
          <a:stretch>
            <a:fillRect/>
          </a:stretch>
        </p:blipFill>
        <p:spPr>
          <a:xfrm>
            <a:off x="1060174" y="343336"/>
            <a:ext cx="10455965" cy="6112739"/>
          </a:xfrm>
          <a:prstGeom prst="rect">
            <a:avLst/>
          </a:prstGeom>
        </p:spPr>
      </p:pic>
    </p:spTree>
    <p:extLst>
      <p:ext uri="{BB962C8B-B14F-4D97-AF65-F5344CB8AC3E}">
        <p14:creationId xmlns:p14="http://schemas.microsoft.com/office/powerpoint/2010/main" val="3362080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0BBB2-999F-3D32-BF61-233C976BAE3C}"/>
              </a:ext>
            </a:extLst>
          </p:cNvPr>
          <p:cNvSpPr>
            <a:spLocks noGrp="1"/>
          </p:cNvSpPr>
          <p:nvPr>
            <p:ph type="title"/>
          </p:nvPr>
        </p:nvSpPr>
        <p:spPr>
          <a:xfrm>
            <a:off x="0" y="18428"/>
            <a:ext cx="12192000" cy="1325563"/>
          </a:xfrm>
        </p:spPr>
        <p:txBody>
          <a:bodyPr>
            <a:normAutofit/>
          </a:bodyPr>
          <a:lstStyle/>
          <a:p>
            <a:pPr algn="ctr"/>
            <a:r>
              <a:rPr lang="en-GB" b="1" dirty="0"/>
              <a:t>WHAT CAN YOU DO IN YOUR IPQ REPORTS TO JUSTIFY YOUR QUESTIONS AND RESEARCH METHODS?</a:t>
            </a:r>
          </a:p>
        </p:txBody>
      </p:sp>
      <p:sp>
        <p:nvSpPr>
          <p:cNvPr id="3" name="Content Placeholder 2">
            <a:extLst>
              <a:ext uri="{FF2B5EF4-FFF2-40B4-BE49-F238E27FC236}">
                <a16:creationId xmlns:a16="http://schemas.microsoft.com/office/drawing/2014/main" id="{9F85A5EE-A028-918A-7452-8FD988FF988A}"/>
              </a:ext>
            </a:extLst>
          </p:cNvPr>
          <p:cNvSpPr>
            <a:spLocks noGrp="1"/>
          </p:cNvSpPr>
          <p:nvPr>
            <p:ph idx="1"/>
          </p:nvPr>
        </p:nvSpPr>
        <p:spPr>
          <a:xfrm>
            <a:off x="-1" y="1343990"/>
            <a:ext cx="12191999" cy="5514009"/>
          </a:xfrm>
        </p:spPr>
        <p:txBody>
          <a:bodyPr/>
          <a:lstStyle/>
          <a:p>
            <a:r>
              <a:rPr lang="en-GB" dirty="0"/>
              <a:t>How well have you justified your research question?</a:t>
            </a:r>
          </a:p>
          <a:p>
            <a:endParaRPr lang="en-GB" dirty="0"/>
          </a:p>
          <a:p>
            <a:r>
              <a:rPr lang="en-GB" dirty="0"/>
              <a:t>How well have you justified your research methods?</a:t>
            </a:r>
          </a:p>
          <a:p>
            <a:endParaRPr lang="en-GB" dirty="0"/>
          </a:p>
          <a:p>
            <a:r>
              <a:rPr lang="en-GB" dirty="0"/>
              <a:t>What can you do to improve either/both of these?</a:t>
            </a:r>
          </a:p>
          <a:p>
            <a:endParaRPr lang="en-GB" dirty="0"/>
          </a:p>
          <a:p>
            <a:r>
              <a:rPr lang="en-GB" dirty="0"/>
              <a:t>Discuss in pairs/threes</a:t>
            </a:r>
          </a:p>
        </p:txBody>
      </p:sp>
    </p:spTree>
    <p:extLst>
      <p:ext uri="{BB962C8B-B14F-4D97-AF65-F5344CB8AC3E}">
        <p14:creationId xmlns:p14="http://schemas.microsoft.com/office/powerpoint/2010/main" val="3701839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A76EE-EB28-5466-0BC3-53321AC30013}"/>
              </a:ext>
            </a:extLst>
          </p:cNvPr>
          <p:cNvSpPr>
            <a:spLocks noGrp="1"/>
          </p:cNvSpPr>
          <p:nvPr>
            <p:ph type="title"/>
          </p:nvPr>
        </p:nvSpPr>
        <p:spPr>
          <a:xfrm>
            <a:off x="838200" y="1"/>
            <a:ext cx="10515600" cy="1219199"/>
          </a:xfrm>
        </p:spPr>
        <p:txBody>
          <a:bodyPr/>
          <a:lstStyle/>
          <a:p>
            <a:pPr algn="ctr"/>
            <a:r>
              <a:rPr lang="en-GB" b="1" dirty="0"/>
              <a:t>SOME FINAL TIPS/REMINDERS…</a:t>
            </a:r>
          </a:p>
        </p:txBody>
      </p:sp>
      <p:sp>
        <p:nvSpPr>
          <p:cNvPr id="3" name="Content Placeholder 2">
            <a:extLst>
              <a:ext uri="{FF2B5EF4-FFF2-40B4-BE49-F238E27FC236}">
                <a16:creationId xmlns:a16="http://schemas.microsoft.com/office/drawing/2014/main" id="{B081BEA4-766B-39DE-D5B4-73ADF31DC515}"/>
              </a:ext>
            </a:extLst>
          </p:cNvPr>
          <p:cNvSpPr>
            <a:spLocks noGrp="1"/>
          </p:cNvSpPr>
          <p:nvPr>
            <p:ph idx="1"/>
          </p:nvPr>
        </p:nvSpPr>
        <p:spPr>
          <a:xfrm>
            <a:off x="0" y="1219200"/>
            <a:ext cx="12192000" cy="5638799"/>
          </a:xfrm>
        </p:spPr>
        <p:txBody>
          <a:bodyPr/>
          <a:lstStyle/>
          <a:p>
            <a:r>
              <a:rPr lang="en-GB" dirty="0"/>
              <a:t>Make sure you regularly check the criteria, and address each part this with each part of your report.</a:t>
            </a:r>
          </a:p>
          <a:p>
            <a:endParaRPr lang="en-GB" dirty="0"/>
          </a:p>
          <a:p>
            <a:r>
              <a:rPr lang="en-GB" dirty="0"/>
              <a:t>Make sure your question matches the focus of the report/vice-versa.</a:t>
            </a:r>
          </a:p>
          <a:p>
            <a:endParaRPr lang="en-GB" dirty="0"/>
          </a:p>
          <a:p>
            <a:r>
              <a:rPr lang="en-GB" dirty="0"/>
              <a:t>Include analysis and evaluation</a:t>
            </a:r>
          </a:p>
          <a:p>
            <a:endParaRPr lang="en-GB" dirty="0"/>
          </a:p>
          <a:p>
            <a:r>
              <a:rPr lang="en-GB" dirty="0"/>
              <a:t>Include data, where appropriate/relevant</a:t>
            </a:r>
          </a:p>
        </p:txBody>
      </p:sp>
    </p:spTree>
    <p:extLst>
      <p:ext uri="{BB962C8B-B14F-4D97-AF65-F5344CB8AC3E}">
        <p14:creationId xmlns:p14="http://schemas.microsoft.com/office/powerpoint/2010/main" val="1509147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F07D1-4728-34EC-520F-3D8B59607A5A}"/>
              </a:ext>
            </a:extLst>
          </p:cNvPr>
          <p:cNvSpPr>
            <a:spLocks noGrp="1"/>
          </p:cNvSpPr>
          <p:nvPr>
            <p:ph type="title"/>
          </p:nvPr>
        </p:nvSpPr>
        <p:spPr>
          <a:xfrm>
            <a:off x="838200" y="2"/>
            <a:ext cx="10515600" cy="967408"/>
          </a:xfrm>
        </p:spPr>
        <p:txBody>
          <a:bodyPr/>
          <a:lstStyle/>
          <a:p>
            <a:pPr algn="ctr"/>
            <a:r>
              <a:rPr lang="en-GB" b="1" dirty="0"/>
              <a:t>GRADING CRITERIA</a:t>
            </a:r>
          </a:p>
        </p:txBody>
      </p:sp>
      <p:sp>
        <p:nvSpPr>
          <p:cNvPr id="3" name="Content Placeholder 2">
            <a:extLst>
              <a:ext uri="{FF2B5EF4-FFF2-40B4-BE49-F238E27FC236}">
                <a16:creationId xmlns:a16="http://schemas.microsoft.com/office/drawing/2014/main" id="{72A8A792-1EAC-7B54-BF64-EDE498888E5D}"/>
              </a:ext>
            </a:extLst>
          </p:cNvPr>
          <p:cNvSpPr>
            <a:spLocks noGrp="1"/>
          </p:cNvSpPr>
          <p:nvPr>
            <p:ph idx="1"/>
          </p:nvPr>
        </p:nvSpPr>
        <p:spPr>
          <a:xfrm>
            <a:off x="0" y="1603513"/>
            <a:ext cx="12192000" cy="4573450"/>
          </a:xfrm>
        </p:spPr>
        <p:txBody>
          <a:bodyPr/>
          <a:lstStyle/>
          <a:p>
            <a:r>
              <a:rPr lang="en-GB" dirty="0"/>
              <a:t>Below is the grading criteria by which your IPQ reports will be assessed.</a:t>
            </a:r>
          </a:p>
          <a:p>
            <a:endParaRPr lang="en-GB" dirty="0"/>
          </a:p>
          <a:p>
            <a:r>
              <a:rPr lang="en-GB" dirty="0"/>
              <a:t>You should refer to this as you progress and do the best you can to score as highly on the grading criteria as you can.</a:t>
            </a:r>
          </a:p>
        </p:txBody>
      </p:sp>
    </p:spTree>
    <p:extLst>
      <p:ext uri="{BB962C8B-B14F-4D97-AF65-F5344CB8AC3E}">
        <p14:creationId xmlns:p14="http://schemas.microsoft.com/office/powerpoint/2010/main" val="1772143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56056FD-FBC7-0756-0074-D2566564DDF5}"/>
              </a:ext>
            </a:extLst>
          </p:cNvPr>
          <p:cNvPicPr>
            <a:picLocks noChangeAspect="1"/>
          </p:cNvPicPr>
          <p:nvPr/>
        </p:nvPicPr>
        <p:blipFill>
          <a:blip r:embed="rId2"/>
          <a:stretch>
            <a:fillRect/>
          </a:stretch>
        </p:blipFill>
        <p:spPr>
          <a:xfrm>
            <a:off x="708991" y="155610"/>
            <a:ext cx="10774018" cy="6546779"/>
          </a:xfrm>
          <a:prstGeom prst="rect">
            <a:avLst/>
          </a:prstGeom>
        </p:spPr>
      </p:pic>
    </p:spTree>
    <p:extLst>
      <p:ext uri="{BB962C8B-B14F-4D97-AF65-F5344CB8AC3E}">
        <p14:creationId xmlns:p14="http://schemas.microsoft.com/office/powerpoint/2010/main" val="857133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B4DCD7-7F36-5453-D335-38BA4DE32181}"/>
              </a:ext>
            </a:extLst>
          </p:cNvPr>
          <p:cNvPicPr>
            <a:picLocks noChangeAspect="1"/>
          </p:cNvPicPr>
          <p:nvPr/>
        </p:nvPicPr>
        <p:blipFill>
          <a:blip r:embed="rId2"/>
          <a:stretch>
            <a:fillRect/>
          </a:stretch>
        </p:blipFill>
        <p:spPr>
          <a:xfrm>
            <a:off x="1113182" y="424070"/>
            <a:ext cx="9740347" cy="6095999"/>
          </a:xfrm>
          <a:prstGeom prst="rect">
            <a:avLst/>
          </a:prstGeom>
        </p:spPr>
      </p:pic>
    </p:spTree>
    <p:extLst>
      <p:ext uri="{BB962C8B-B14F-4D97-AF65-F5344CB8AC3E}">
        <p14:creationId xmlns:p14="http://schemas.microsoft.com/office/powerpoint/2010/main" val="776454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71FC9B-F404-03A4-EEA6-49680E818717}"/>
              </a:ext>
            </a:extLst>
          </p:cNvPr>
          <p:cNvPicPr>
            <a:picLocks noChangeAspect="1"/>
          </p:cNvPicPr>
          <p:nvPr/>
        </p:nvPicPr>
        <p:blipFill>
          <a:blip r:embed="rId2"/>
          <a:stretch>
            <a:fillRect/>
          </a:stretch>
        </p:blipFill>
        <p:spPr>
          <a:xfrm>
            <a:off x="753615" y="782989"/>
            <a:ext cx="10684770" cy="5292022"/>
          </a:xfrm>
          <a:prstGeom prst="rect">
            <a:avLst/>
          </a:prstGeom>
        </p:spPr>
      </p:pic>
    </p:spTree>
    <p:extLst>
      <p:ext uri="{BB962C8B-B14F-4D97-AF65-F5344CB8AC3E}">
        <p14:creationId xmlns:p14="http://schemas.microsoft.com/office/powerpoint/2010/main" val="3264626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62978E-EA88-FDE7-4F17-B9D9CA4348EF}"/>
              </a:ext>
            </a:extLst>
          </p:cNvPr>
          <p:cNvPicPr>
            <a:picLocks noChangeAspect="1"/>
          </p:cNvPicPr>
          <p:nvPr/>
        </p:nvPicPr>
        <p:blipFill>
          <a:blip r:embed="rId2"/>
          <a:stretch>
            <a:fillRect/>
          </a:stretch>
        </p:blipFill>
        <p:spPr>
          <a:xfrm>
            <a:off x="1152939" y="649358"/>
            <a:ext cx="9766852" cy="5592416"/>
          </a:xfrm>
          <a:prstGeom prst="rect">
            <a:avLst/>
          </a:prstGeom>
        </p:spPr>
      </p:pic>
    </p:spTree>
    <p:extLst>
      <p:ext uri="{BB962C8B-B14F-4D97-AF65-F5344CB8AC3E}">
        <p14:creationId xmlns:p14="http://schemas.microsoft.com/office/powerpoint/2010/main" val="2460246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406E4-2C99-2057-2C26-7FB19DA36200}"/>
              </a:ext>
            </a:extLst>
          </p:cNvPr>
          <p:cNvPicPr>
            <a:picLocks noChangeAspect="1"/>
          </p:cNvPicPr>
          <p:nvPr/>
        </p:nvPicPr>
        <p:blipFill>
          <a:blip r:embed="rId2"/>
          <a:stretch>
            <a:fillRect/>
          </a:stretch>
        </p:blipFill>
        <p:spPr>
          <a:xfrm>
            <a:off x="602973" y="341243"/>
            <a:ext cx="10986053" cy="6175513"/>
          </a:xfrm>
          <a:prstGeom prst="rect">
            <a:avLst/>
          </a:prstGeom>
        </p:spPr>
      </p:pic>
    </p:spTree>
    <p:extLst>
      <p:ext uri="{BB962C8B-B14F-4D97-AF65-F5344CB8AC3E}">
        <p14:creationId xmlns:p14="http://schemas.microsoft.com/office/powerpoint/2010/main" val="698990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1697</TotalTime>
  <Words>1139</Words>
  <Application>Microsoft Office PowerPoint</Application>
  <PresentationFormat>Widescreen</PresentationFormat>
  <Paragraphs>112</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WRITING YOUR IPQ REPORT</vt:lpstr>
      <vt:lpstr>WORD COUNT</vt:lpstr>
      <vt:lpstr>JUSTIFY YOUR RESEARCH QUESTION</vt:lpstr>
      <vt:lpstr>PowerPoint Presentation</vt:lpstr>
      <vt:lpstr>JUSTIFY YOUR RESEARCH METHODOLOGY</vt:lpstr>
      <vt:lpstr>PowerPoint Presentation</vt:lpstr>
      <vt:lpstr>ANSWER THE QUESTION YOU SET YOURSELF!</vt:lpstr>
      <vt:lpstr>PowerPoint Presentation</vt:lpstr>
      <vt:lpstr>PowerPoint Presentation</vt:lpstr>
      <vt:lpstr>ANALYSIS</vt:lpstr>
      <vt:lpstr>PowerPoint Presentation</vt:lpstr>
      <vt:lpstr>PowerPoint Presentation</vt:lpstr>
      <vt:lpstr>EVALUATE YOUR SOURCES</vt:lpstr>
      <vt:lpstr>PowerPoint Presentation</vt:lpstr>
      <vt:lpstr>CONCLUSION</vt:lpstr>
      <vt:lpstr>REFLECTION</vt:lpstr>
      <vt:lpstr>PowerPoint Presentation</vt:lpstr>
      <vt:lpstr>PowerPoint Presentation</vt:lpstr>
      <vt:lpstr>APPENDICES</vt:lpstr>
      <vt:lpstr>RESEARCH LOG</vt:lpstr>
      <vt:lpstr>PowerPoint Presentation</vt:lpstr>
      <vt:lpstr>PowerPoint Presentation</vt:lpstr>
      <vt:lpstr>SOURCES</vt:lpstr>
      <vt:lpstr>PowerPoint Presentation</vt:lpstr>
      <vt:lpstr>PowerPoint Presentation</vt:lpstr>
      <vt:lpstr>PowerPoint Presentation</vt:lpstr>
      <vt:lpstr>WHAT CAN YOU DO IN YOUR IPQ REPORTS TO JUSTIFY YOUR QUESTIONS AND RESEARCH METHODS?</vt:lpstr>
      <vt:lpstr>SOME FINAL TIPS/REMINDERS…</vt:lpstr>
      <vt:lpstr>GRADING CRITERIA</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YOUR IPQ REPORT</dc:title>
  <dc:creator>Steven Crake</dc:creator>
  <cp:lastModifiedBy>Steven Crake</cp:lastModifiedBy>
  <cp:revision>47</cp:revision>
  <dcterms:created xsi:type="dcterms:W3CDTF">2023-08-24T04:48:30Z</dcterms:created>
  <dcterms:modified xsi:type="dcterms:W3CDTF">2023-09-05T11:13:53Z</dcterms:modified>
</cp:coreProperties>
</file>