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400" r:id="rId3"/>
    <p:sldId id="468" r:id="rId4"/>
    <p:sldId id="469" r:id="rId5"/>
    <p:sldId id="474" r:id="rId6"/>
    <p:sldId id="470" r:id="rId7"/>
    <p:sldId id="472" r:id="rId8"/>
    <p:sldId id="473" r:id="rId9"/>
    <p:sldId id="305" r:id="rId10"/>
  </p:sldIdLst>
  <p:sldSz cx="9144000" cy="5719763"/>
  <p:notesSz cx="6761163" cy="9942513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67">
          <p15:clr>
            <a:srgbClr val="A4A3A4"/>
          </p15:clr>
        </p15:guide>
        <p15:guide id="2" pos="3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2225"/>
    <a:srgbClr val="D77D0F"/>
    <a:srgbClr val="9A0D14"/>
    <a:srgbClr val="AE0D15"/>
    <a:srgbClr val="FFFFFF"/>
    <a:srgbClr val="FF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33" autoAdjust="0"/>
    <p:restoredTop sz="93100"/>
  </p:normalViewPr>
  <p:slideViewPr>
    <p:cSldViewPr showGuides="1">
      <p:cViewPr>
        <p:scale>
          <a:sx n="119" d="100"/>
          <a:sy n="119" d="100"/>
        </p:scale>
        <p:origin x="462" y="63"/>
      </p:cViewPr>
      <p:guideLst>
        <p:guide orient="horz" pos="1167"/>
        <p:guide pos="3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29761" y="0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02D1ED-119A-46AE-B331-371B8B86FCFF}" type="datetimeFigureOut">
              <a:rPr lang="zh-CN" altLang="en-US" smtClean="0"/>
              <a:t>2024/10/16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43662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29761" y="9443662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D52C0E-53D7-4104-A0E7-5E833EABB3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29292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05458E-FF70-4365-837E-3ABB2A84A1C6}" type="datetimeFigureOut">
              <a:rPr lang="zh-CN" altLang="en-US" smtClean="0"/>
              <a:t>2024/10/16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01436" y="746125"/>
            <a:ext cx="5958290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6117" y="4722694"/>
            <a:ext cx="5408930" cy="4474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664A68-3F8A-412F-A893-E4679BC1FB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5345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01638" y="746125"/>
            <a:ext cx="5957887" cy="37274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664A68-3F8A-412F-A893-E4679BC1FB2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33153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79B610-238B-4C94-911B-38D30741D0CB}" type="slidenum">
              <a:rPr lang="en-US" altLang="zh-CN"/>
              <a:t>‹#›</a:t>
            </a:fld>
            <a:endParaRPr lang="en-US" altLang="zh-CN"/>
          </a:p>
        </p:txBody>
      </p:sp>
      <p:pic>
        <p:nvPicPr>
          <p:cNvPr id="2" name="图片 1" descr="光华剑桥PPT三个尺寸-0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35"/>
            <a:ext cx="9142730" cy="57194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7314"/>
            <a:ext cx="7772400" cy="122637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42075"/>
            <a:ext cx="6400800" cy="1462112"/>
          </a:xfrm>
        </p:spPr>
        <p:txBody>
          <a:bodyPr/>
          <a:lstStyle>
            <a:lvl1pPr marL="0" indent="0" algn="ctr">
              <a:buNone/>
              <a:defRPr/>
            </a:lvl1pPr>
            <a:lvl2pPr marL="381000" indent="0" algn="ctr">
              <a:buNone/>
              <a:defRPr/>
            </a:lvl2pPr>
            <a:lvl3pPr marL="762635" indent="0" algn="ctr">
              <a:buNone/>
              <a:defRPr/>
            </a:lvl3pPr>
            <a:lvl4pPr marL="1143635" indent="0" algn="ctr">
              <a:buNone/>
              <a:defRPr/>
            </a:lvl4pPr>
            <a:lvl5pPr marL="1525270" indent="0" algn="ctr">
              <a:buNone/>
              <a:defRPr/>
            </a:lvl5pPr>
            <a:lvl6pPr marL="1906270" indent="0" algn="ctr">
              <a:buNone/>
              <a:defRPr/>
            </a:lvl6pPr>
            <a:lvl7pPr marL="2288540" indent="0" algn="ctr">
              <a:buNone/>
              <a:defRPr/>
            </a:lvl7pPr>
            <a:lvl8pPr marL="2670175" indent="0" algn="ctr">
              <a:buNone/>
              <a:defRPr/>
            </a:lvl8pPr>
            <a:lvl9pPr marL="3051175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2F86B5-A254-4ED8-8F23-AF61DDD39B0C}" type="slidenum">
              <a:rPr lang="en-US" altLang="zh-CN"/>
              <a:t>‹#›</a:t>
            </a:fld>
            <a:endParaRPr lang="en-US" altLang="zh-CN"/>
          </a:p>
        </p:txBody>
      </p:sp>
      <p:pic>
        <p:nvPicPr>
          <p:cNvPr id="12" name="图片 11" descr="光华剑桥PPT-改-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70" y="635"/>
            <a:ext cx="9142730" cy="57197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5B8E3A-BBB2-4A04-8574-9045E9090395}" type="slidenum">
              <a:rPr lang="en-US" altLang="zh-CN"/>
              <a:t>‹#›</a:t>
            </a:fld>
            <a:endParaRPr lang="en-US" altLang="zh-CN"/>
          </a:p>
        </p:txBody>
      </p:sp>
      <p:pic>
        <p:nvPicPr>
          <p:cNvPr id="3" name="图片 2" descr="光华剑桥PPT三个尺寸-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2730" cy="571944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508561"/>
            <a:ext cx="8229600" cy="95355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843533"/>
            <a:ext cx="8229600" cy="260637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0"/>
            <a:r>
              <a:rPr lang="zh-CN" altLang="en-US"/>
              <a:t>第二级</a:t>
            </a:r>
          </a:p>
          <a:p>
            <a:pPr lvl="1"/>
            <a:r>
              <a:rPr lang="zh-CN" altLang="en-US"/>
              <a:t>第三级</a:t>
            </a:r>
          </a:p>
          <a:p>
            <a:pPr lvl="2"/>
            <a:r>
              <a:rPr lang="zh-CN" altLang="en-US"/>
              <a:t>第四级</a:t>
            </a:r>
          </a:p>
          <a:p>
            <a:pPr lvl="3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577047"/>
            <a:ext cx="2133600" cy="3973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17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577047"/>
            <a:ext cx="2895600" cy="3973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17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77000" y="4577047"/>
            <a:ext cx="2133600" cy="3973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170"/>
            </a:lvl1pPr>
          </a:lstStyle>
          <a:p>
            <a:fld id="{53A26BEF-62AC-40AF-BE38-E9EC6678E3AC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rtl="0" fontAlgn="base">
        <a:spcBef>
          <a:spcPct val="0"/>
        </a:spcBef>
        <a:spcAft>
          <a:spcPct val="0"/>
        </a:spcAft>
        <a:defRPr sz="367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  <a:cs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  <a:cs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  <a:cs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  <a:cs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  <a:cs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  <a:cs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  <a:cs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  <a:cs typeface="宋体" panose="02010600030101010101" pitchFamily="2" charset="-122"/>
        </a:defRPr>
      </a:lvl9pPr>
    </p:titleStyle>
    <p:bodyStyle>
      <a:lvl1pPr marL="285750" indent="-285750" algn="l" rtl="0" fontAlgn="base">
        <a:spcBef>
          <a:spcPts val="80"/>
        </a:spcBef>
        <a:spcAft>
          <a:spcPct val="0"/>
        </a:spcAft>
        <a:buChar char="•"/>
        <a:defRPr sz="2670">
          <a:solidFill>
            <a:schemeClr val="tx1"/>
          </a:solidFill>
          <a:latin typeface="+mn-lt"/>
          <a:ea typeface="+mn-ea"/>
          <a:cs typeface="+mn-cs"/>
        </a:defRPr>
      </a:lvl1pPr>
      <a:lvl2pPr marL="619760" indent="-238760" algn="l" rtl="0" fontAlgn="base">
        <a:spcBef>
          <a:spcPts val="80"/>
        </a:spcBef>
        <a:spcAft>
          <a:spcPct val="0"/>
        </a:spcAft>
        <a:buChar char="–"/>
        <a:defRPr sz="2335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2pPr>
      <a:lvl3pPr marL="953135" indent="-190500" algn="l" rtl="0" fontAlgn="base">
        <a:spcBef>
          <a:spcPts val="8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3pPr>
      <a:lvl4pPr marL="1334770" indent="-190500" algn="l" rtl="0" fontAlgn="base">
        <a:spcBef>
          <a:spcPts val="80"/>
        </a:spcBef>
        <a:spcAft>
          <a:spcPct val="0"/>
        </a:spcAft>
        <a:buChar char="–"/>
        <a:defRPr sz="167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4pPr>
      <a:lvl5pPr marL="1715770" indent="-190500" algn="l" rtl="0" fontAlgn="base">
        <a:spcBef>
          <a:spcPts val="80"/>
        </a:spcBef>
        <a:spcAft>
          <a:spcPct val="0"/>
        </a:spcAft>
        <a:buChar char="»"/>
        <a:defRPr sz="167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5pPr>
      <a:lvl6pPr marL="2098040" indent="-190500" algn="l" rtl="0" fontAlgn="base">
        <a:spcBef>
          <a:spcPts val="80"/>
        </a:spcBef>
        <a:spcAft>
          <a:spcPct val="0"/>
        </a:spcAft>
        <a:buChar char="»"/>
        <a:defRPr sz="167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6pPr>
      <a:lvl7pPr marL="2479040" indent="-190500" algn="l" rtl="0" fontAlgn="base">
        <a:spcBef>
          <a:spcPts val="80"/>
        </a:spcBef>
        <a:spcAft>
          <a:spcPct val="0"/>
        </a:spcAft>
        <a:buChar char="»"/>
        <a:defRPr sz="167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7pPr>
      <a:lvl8pPr marL="2860675" indent="-190500" algn="l" rtl="0" fontAlgn="base">
        <a:spcBef>
          <a:spcPts val="80"/>
        </a:spcBef>
        <a:spcAft>
          <a:spcPct val="0"/>
        </a:spcAft>
        <a:buChar char="»"/>
        <a:defRPr sz="167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8pPr>
      <a:lvl9pPr marL="3241675" indent="-190500" algn="l" rtl="0" fontAlgn="base">
        <a:spcBef>
          <a:spcPts val="80"/>
        </a:spcBef>
        <a:spcAft>
          <a:spcPct val="0"/>
        </a:spcAft>
        <a:buChar char="»"/>
        <a:defRPr sz="167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9pPr>
    </p:bodyStyle>
    <p:otherStyle>
      <a:defPPr>
        <a:defRPr lang="zh-CN"/>
      </a:defPPr>
      <a:lvl1pPr marL="0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1000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2635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635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5270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6270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8540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70175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51175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360000" y="1398476"/>
            <a:ext cx="8424000" cy="12036174"/>
          </a:xfrm>
        </p:spPr>
        <p:txBody>
          <a:bodyPr wrap="square">
            <a:spAutoFit/>
          </a:bodyPr>
          <a:lstStyle/>
          <a:p>
            <a:pPr eaLnBrk="1" latinLnBrk="0" hangingPunct="1">
              <a:lnSpc>
                <a:spcPct val="120000"/>
              </a:lnSpc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Times New Roman" panose="02020603050405020304" pitchFamily="18" charset="0"/>
              </a:rPr>
              <a:t>Comparation of Two Models to Calculate the Period of Compound Pendulum with Liquid Damping</a:t>
            </a:r>
            <a:endParaRPr lang="en-US" altLang="zh-CN" sz="3600" b="1" dirty="0">
              <a:solidFill>
                <a:schemeClr val="bg1"/>
              </a:solidFill>
              <a:latin typeface="+mn-lt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5A8B63D-3E80-C6BB-128A-EF8DF8F84C54}"/>
              </a:ext>
            </a:extLst>
          </p:cNvPr>
          <p:cNvSpPr txBox="1">
            <a:spLocks noChangeArrowheads="1"/>
          </p:cNvSpPr>
          <p:nvPr/>
        </p:nvSpPr>
        <p:spPr>
          <a:xfrm>
            <a:off x="1548000" y="3507881"/>
            <a:ext cx="6264000" cy="3908682"/>
          </a:xfrm>
        </p:spPr>
        <p:txBody>
          <a:bodyPr wrap="square">
            <a:sp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367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9pPr>
          </a:lstStyle>
          <a:p>
            <a:pPr algn="r">
              <a:lnSpc>
                <a:spcPct val="120000"/>
              </a:lnSpc>
            </a:pPr>
            <a:endParaRPr lang="en-US" altLang="zh-CN" sz="1600" b="1" kern="0" dirty="0">
              <a:solidFill>
                <a:schemeClr val="bg1"/>
              </a:solidFill>
              <a:latin typeface="+mn-lt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r">
              <a:lnSpc>
                <a:spcPct val="120000"/>
              </a:lnSpc>
            </a:pPr>
            <a:r>
              <a:rPr lang="zh-CN" altLang="en-US" sz="1600" b="1" kern="0" dirty="0">
                <a:solidFill>
                  <a:schemeClr val="bg1"/>
                </a:solidFill>
                <a:latin typeface="+mn-lt"/>
                <a:ea typeface="微软雅黑" panose="020B0503020204020204" pitchFamily="34" charset="-122"/>
                <a:cs typeface="Times New Roman" panose="02020603050405020304" pitchFamily="18" charset="0"/>
              </a:rPr>
              <a:t>王锦添 </a:t>
            </a:r>
            <a:r>
              <a:rPr lang="en-US" altLang="zh-CN" sz="1600" b="1" kern="0" dirty="0" err="1">
                <a:solidFill>
                  <a:schemeClr val="bg1"/>
                </a:solidFill>
                <a:latin typeface="+mn-lt"/>
                <a:ea typeface="微软雅黑" panose="020B0503020204020204" pitchFamily="34" charset="-122"/>
                <a:cs typeface="Times New Roman" panose="02020603050405020304" pitchFamily="18" charset="0"/>
              </a:rPr>
              <a:t>Jintian</a:t>
            </a:r>
            <a:r>
              <a:rPr lang="en-US" altLang="zh-CN" sz="1600" b="1" kern="0" dirty="0">
                <a:solidFill>
                  <a:schemeClr val="bg1"/>
                </a:solidFill>
                <a:latin typeface="+mn-lt"/>
                <a:ea typeface="微软雅黑" panose="020B0503020204020204" pitchFamily="34" charset="-122"/>
                <a:cs typeface="Times New Roman" panose="02020603050405020304" pitchFamily="18" charset="0"/>
              </a:rPr>
              <a:t> Wang A28</a:t>
            </a:r>
            <a:endParaRPr lang="en-US" altLang="zh-CN" sz="1100" kern="0" dirty="0">
              <a:solidFill>
                <a:schemeClr val="bg1"/>
              </a:solidFill>
              <a:latin typeface="+mn-lt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8">
            <a:extLst>
              <a:ext uri="{FF2B5EF4-FFF2-40B4-BE49-F238E27FC236}">
                <a16:creationId xmlns:a16="http://schemas.microsoft.com/office/drawing/2014/main" id="{3188F398-9994-4AAE-F0F0-B8595E59DB09}"/>
              </a:ext>
            </a:extLst>
          </p:cNvPr>
          <p:cNvSpPr txBox="1"/>
          <p:nvPr/>
        </p:nvSpPr>
        <p:spPr>
          <a:xfrm>
            <a:off x="684000" y="168190"/>
            <a:ext cx="3600000" cy="6036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6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CONTENTS</a:t>
            </a:r>
          </a:p>
        </p:txBody>
      </p:sp>
      <p:sp>
        <p:nvSpPr>
          <p:cNvPr id="3" name="TextBox 28">
            <a:extLst>
              <a:ext uri="{FF2B5EF4-FFF2-40B4-BE49-F238E27FC236}">
                <a16:creationId xmlns:a16="http://schemas.microsoft.com/office/drawing/2014/main" id="{17A79FF9-3783-3FEB-2734-A9685346DDAD}"/>
              </a:ext>
            </a:extLst>
          </p:cNvPr>
          <p:cNvSpPr txBox="1"/>
          <p:nvPr/>
        </p:nvSpPr>
        <p:spPr>
          <a:xfrm>
            <a:off x="756000" y="1275881"/>
            <a:ext cx="7632000" cy="33768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45720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30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Theoretical</a:t>
            </a:r>
          </a:p>
          <a:p>
            <a:pPr marL="45720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30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Experiment</a:t>
            </a:r>
          </a:p>
          <a:p>
            <a:pPr marL="45720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30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Analysis</a:t>
            </a:r>
          </a:p>
          <a:p>
            <a:pPr marL="45720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30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Presentation</a:t>
            </a:r>
          </a:p>
          <a:p>
            <a:pPr marL="45720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30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Essay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8">
            <a:extLst>
              <a:ext uri="{FF2B5EF4-FFF2-40B4-BE49-F238E27FC236}">
                <a16:creationId xmlns:a16="http://schemas.microsoft.com/office/drawing/2014/main" id="{7EFD28B5-CFF6-090C-8356-F1315F5F77C5}"/>
              </a:ext>
            </a:extLst>
          </p:cNvPr>
          <p:cNvSpPr txBox="1"/>
          <p:nvPr/>
        </p:nvSpPr>
        <p:spPr>
          <a:xfrm>
            <a:off x="684000" y="168190"/>
            <a:ext cx="4320000" cy="6036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6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THEORETICAL</a:t>
            </a:r>
          </a:p>
        </p:txBody>
      </p:sp>
      <p:sp>
        <p:nvSpPr>
          <p:cNvPr id="4" name="TextBox 28">
            <a:extLst>
              <a:ext uri="{FF2B5EF4-FFF2-40B4-BE49-F238E27FC236}">
                <a16:creationId xmlns:a16="http://schemas.microsoft.com/office/drawing/2014/main" id="{C5DF8124-0CA9-3E8B-79A1-35B8A4ED9AB5}"/>
              </a:ext>
            </a:extLst>
          </p:cNvPr>
          <p:cNvSpPr txBox="1"/>
          <p:nvPr/>
        </p:nvSpPr>
        <p:spPr>
          <a:xfrm>
            <a:off x="760766" y="1348299"/>
            <a:ext cx="7632000" cy="31518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342900" indent="-3429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How to start from scratch?</a:t>
            </a:r>
          </a:p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800" b="1" dirty="0">
              <a:solidFill>
                <a:schemeClr val="tx1"/>
              </a:solidFill>
              <a:latin typeface="+mn-lt"/>
              <a:ea typeface="微软雅黑"/>
              <a:cs typeface="Times New Roman" panose="02020603050405020304" pitchFamily="18" charset="0"/>
              <a:sym typeface="+mn-lt"/>
            </a:endParaRPr>
          </a:p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800" b="1" dirty="0">
              <a:solidFill>
                <a:schemeClr val="tx1"/>
              </a:solidFill>
              <a:latin typeface="+mn-lt"/>
              <a:ea typeface="微软雅黑"/>
              <a:cs typeface="Times New Roman" panose="02020603050405020304" pitchFamily="18" charset="0"/>
              <a:sym typeface="+mn-lt"/>
            </a:endParaRPr>
          </a:p>
          <a:p>
            <a:pPr marL="342900" indent="-3429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Where can I innovate?</a:t>
            </a:r>
          </a:p>
          <a:p>
            <a:pPr marL="342900" indent="-3429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altLang="zh-CN" sz="2800" b="1" dirty="0">
              <a:solidFill>
                <a:schemeClr val="tx1"/>
              </a:solidFill>
              <a:latin typeface="+mn-lt"/>
              <a:ea typeface="微软雅黑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5" name="TextBox 28">
            <a:extLst>
              <a:ext uri="{FF2B5EF4-FFF2-40B4-BE49-F238E27FC236}">
                <a16:creationId xmlns:a16="http://schemas.microsoft.com/office/drawing/2014/main" id="{089B31DC-076B-109C-45B0-4B0E6B9535D1}"/>
              </a:ext>
            </a:extLst>
          </p:cNvPr>
          <p:cNvSpPr txBox="1"/>
          <p:nvPr/>
        </p:nvSpPr>
        <p:spPr>
          <a:xfrm>
            <a:off x="1476000" y="2068299"/>
            <a:ext cx="8028000" cy="10395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457200" indent="-4572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altLang="zh-CN" sz="24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Refer to as much essays as you can.</a:t>
            </a:r>
          </a:p>
          <a:p>
            <a:pPr marL="457200" indent="-4572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altLang="zh-CN" sz="24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Skim most of them and study methodologies.</a:t>
            </a:r>
          </a:p>
        </p:txBody>
      </p:sp>
      <p:sp>
        <p:nvSpPr>
          <p:cNvPr id="6" name="TextBox 28">
            <a:extLst>
              <a:ext uri="{FF2B5EF4-FFF2-40B4-BE49-F238E27FC236}">
                <a16:creationId xmlns:a16="http://schemas.microsoft.com/office/drawing/2014/main" id="{EC163383-5586-BFFC-B0E7-360BE3A21ED3}"/>
              </a:ext>
            </a:extLst>
          </p:cNvPr>
          <p:cNvSpPr txBox="1"/>
          <p:nvPr/>
        </p:nvSpPr>
        <p:spPr>
          <a:xfrm>
            <a:off x="1456043" y="3980366"/>
            <a:ext cx="8028000" cy="10395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457200" indent="-4572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altLang="zh-CN" sz="24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We are NOT expected to become experts. </a:t>
            </a:r>
          </a:p>
          <a:p>
            <a:pPr marL="457200" indent="-4572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altLang="zh-CN" sz="24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Pick up the slack for the pioneers.</a:t>
            </a:r>
          </a:p>
        </p:txBody>
      </p:sp>
    </p:spTree>
    <p:extLst>
      <p:ext uri="{BB962C8B-B14F-4D97-AF65-F5344CB8AC3E}">
        <p14:creationId xmlns:p14="http://schemas.microsoft.com/office/powerpoint/2010/main" val="1819141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8">
            <a:extLst>
              <a:ext uri="{FF2B5EF4-FFF2-40B4-BE49-F238E27FC236}">
                <a16:creationId xmlns:a16="http://schemas.microsoft.com/office/drawing/2014/main" id="{7EFD28B5-CFF6-090C-8356-F1315F5F77C5}"/>
              </a:ext>
            </a:extLst>
          </p:cNvPr>
          <p:cNvSpPr txBox="1"/>
          <p:nvPr/>
        </p:nvSpPr>
        <p:spPr>
          <a:xfrm>
            <a:off x="684000" y="168190"/>
            <a:ext cx="4320000" cy="6036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6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EXPERIMENT</a:t>
            </a:r>
          </a:p>
        </p:txBody>
      </p:sp>
      <p:sp>
        <p:nvSpPr>
          <p:cNvPr id="4" name="TextBox 28">
            <a:extLst>
              <a:ext uri="{FF2B5EF4-FFF2-40B4-BE49-F238E27FC236}">
                <a16:creationId xmlns:a16="http://schemas.microsoft.com/office/drawing/2014/main" id="{C5DF8124-0CA9-3E8B-79A1-35B8A4ED9AB5}"/>
              </a:ext>
            </a:extLst>
          </p:cNvPr>
          <p:cNvSpPr txBox="1"/>
          <p:nvPr/>
        </p:nvSpPr>
        <p:spPr>
          <a:xfrm>
            <a:off x="760766" y="1348299"/>
            <a:ext cx="7632000" cy="25054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342900" indent="-3429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Must towards some </a:t>
            </a:r>
            <a:r>
              <a:rPr lang="en-US" altLang="zh-CN" sz="2800" b="1" dirty="0">
                <a:solidFill>
                  <a:srgbClr val="FF0000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purpose</a:t>
            </a:r>
            <a:r>
              <a:rPr lang="en-US" altLang="zh-CN" sz="28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.</a:t>
            </a:r>
          </a:p>
          <a:p>
            <a:pPr marL="342900" indent="-3429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altLang="zh-CN" sz="2400" b="1" dirty="0">
              <a:solidFill>
                <a:schemeClr val="tx1"/>
              </a:solidFill>
              <a:latin typeface="+mn-lt"/>
              <a:ea typeface="微软雅黑"/>
              <a:cs typeface="Times New Roman" panose="02020603050405020304" pitchFamily="18" charset="0"/>
              <a:sym typeface="+mn-lt"/>
            </a:endParaRPr>
          </a:p>
          <a:p>
            <a:pPr marL="342900" indent="-3429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You can ask for help.</a:t>
            </a:r>
          </a:p>
          <a:p>
            <a:pPr marL="342900" indent="-3429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altLang="zh-CN" sz="2800" b="1" dirty="0">
              <a:solidFill>
                <a:schemeClr val="tx1"/>
              </a:solidFill>
              <a:latin typeface="+mn-lt"/>
              <a:ea typeface="微软雅黑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5" name="TextBox 28">
            <a:extLst>
              <a:ext uri="{FF2B5EF4-FFF2-40B4-BE49-F238E27FC236}">
                <a16:creationId xmlns:a16="http://schemas.microsoft.com/office/drawing/2014/main" id="{089B31DC-076B-109C-45B0-4B0E6B9535D1}"/>
              </a:ext>
            </a:extLst>
          </p:cNvPr>
          <p:cNvSpPr txBox="1"/>
          <p:nvPr/>
        </p:nvSpPr>
        <p:spPr>
          <a:xfrm>
            <a:off x="1456043" y="1951299"/>
            <a:ext cx="8028000" cy="4855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457200" indent="-4572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altLang="zh-CN" sz="24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Verify your theory.</a:t>
            </a:r>
          </a:p>
        </p:txBody>
      </p:sp>
      <p:sp>
        <p:nvSpPr>
          <p:cNvPr id="6" name="TextBox 28">
            <a:extLst>
              <a:ext uri="{FF2B5EF4-FFF2-40B4-BE49-F238E27FC236}">
                <a16:creationId xmlns:a16="http://schemas.microsoft.com/office/drawing/2014/main" id="{EC163383-5586-BFFC-B0E7-360BE3A21ED3}"/>
              </a:ext>
            </a:extLst>
          </p:cNvPr>
          <p:cNvSpPr txBox="1"/>
          <p:nvPr/>
        </p:nvSpPr>
        <p:spPr>
          <a:xfrm>
            <a:off x="1456043" y="3250902"/>
            <a:ext cx="8028000" cy="15935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457200" indent="-4572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altLang="zh-CN" sz="2400" b="1" dirty="0">
                <a:solidFill>
                  <a:srgbClr val="0070C0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3D model </a:t>
            </a:r>
            <a:r>
              <a:rPr lang="en-US" altLang="zh-CN" sz="24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I used was supported by Tony.</a:t>
            </a:r>
          </a:p>
          <a:p>
            <a:pPr marL="457200" indent="-4572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altLang="zh-CN" sz="24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The formal experiment was done in </a:t>
            </a:r>
            <a:r>
              <a:rPr lang="en-US" altLang="zh-CN" sz="2400" b="1" dirty="0">
                <a:solidFill>
                  <a:srgbClr val="0070C0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school</a:t>
            </a:r>
            <a:r>
              <a:rPr lang="en-US" altLang="zh-CN" sz="24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.</a:t>
            </a:r>
          </a:p>
          <a:p>
            <a:pPr marL="457200" indent="-4572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altLang="zh-CN" sz="24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Tutor suggested a </a:t>
            </a:r>
            <a:r>
              <a:rPr lang="en-US" altLang="zh-CN" sz="2400" b="1" dirty="0">
                <a:solidFill>
                  <a:srgbClr val="0070C0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rough work</a:t>
            </a:r>
            <a:r>
              <a:rPr lang="en-US" altLang="zh-CN" sz="24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62923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/>
      <p:bldP spid="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8">
            <a:extLst>
              <a:ext uri="{FF2B5EF4-FFF2-40B4-BE49-F238E27FC236}">
                <a16:creationId xmlns:a16="http://schemas.microsoft.com/office/drawing/2014/main" id="{7EFD28B5-CFF6-090C-8356-F1315F5F77C5}"/>
              </a:ext>
            </a:extLst>
          </p:cNvPr>
          <p:cNvSpPr txBox="1"/>
          <p:nvPr/>
        </p:nvSpPr>
        <p:spPr>
          <a:xfrm>
            <a:off x="684000" y="168190"/>
            <a:ext cx="4320000" cy="6036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6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ANALYSIS</a:t>
            </a:r>
          </a:p>
        </p:txBody>
      </p:sp>
      <p:sp>
        <p:nvSpPr>
          <p:cNvPr id="4" name="TextBox 28">
            <a:extLst>
              <a:ext uri="{FF2B5EF4-FFF2-40B4-BE49-F238E27FC236}">
                <a16:creationId xmlns:a16="http://schemas.microsoft.com/office/drawing/2014/main" id="{C5DF8124-0CA9-3E8B-79A1-35B8A4ED9AB5}"/>
              </a:ext>
            </a:extLst>
          </p:cNvPr>
          <p:cNvSpPr txBox="1"/>
          <p:nvPr/>
        </p:nvSpPr>
        <p:spPr>
          <a:xfrm>
            <a:off x="760766" y="1348299"/>
            <a:ext cx="8131234" cy="30594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342900" indent="-3429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tx1"/>
                </a:solidFill>
                <a:ea typeface="微软雅黑"/>
                <a:cs typeface="Times New Roman" panose="02020603050405020304" pitchFamily="18" charset="0"/>
                <a:sym typeface="+mn-lt"/>
              </a:rPr>
              <a:t>Diagrams ugly but need sense of advanced.</a:t>
            </a:r>
          </a:p>
          <a:p>
            <a:pPr marL="342900" indent="-3429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altLang="zh-CN" sz="2400" b="1" dirty="0">
              <a:solidFill>
                <a:schemeClr val="tx1"/>
              </a:solidFill>
              <a:latin typeface="+mn-lt"/>
              <a:ea typeface="微软雅黑"/>
              <a:cs typeface="Times New Roman" panose="02020603050405020304" pitchFamily="18" charset="0"/>
              <a:sym typeface="+mn-lt"/>
            </a:endParaRPr>
          </a:p>
          <a:p>
            <a:pPr marL="342900" indent="-3429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List </a:t>
            </a:r>
            <a:r>
              <a:rPr lang="en-US" altLang="zh-CN" sz="2800" b="1" dirty="0">
                <a:solidFill>
                  <a:srgbClr val="D77D0F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equipment</a:t>
            </a:r>
            <a:r>
              <a:rPr lang="en-US" altLang="zh-CN" sz="28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 if necessary.</a:t>
            </a:r>
          </a:p>
          <a:p>
            <a:pPr marL="342900" indent="-3429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Need to show the method of thinking.</a:t>
            </a:r>
          </a:p>
          <a:p>
            <a:pPr marL="342900" indent="-3429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Need to </a:t>
            </a:r>
            <a:r>
              <a:rPr lang="en-US" altLang="zh-CN" sz="2800" b="1" dirty="0">
                <a:solidFill>
                  <a:srgbClr val="A02225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expand</a:t>
            </a:r>
            <a:r>
              <a:rPr lang="en-US" altLang="zh-CN" sz="28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 your theory and </a:t>
            </a:r>
            <a:r>
              <a:rPr lang="en-US" altLang="zh-CN" sz="2800" b="1" dirty="0">
                <a:solidFill>
                  <a:srgbClr val="A02225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generalize</a:t>
            </a:r>
            <a:r>
              <a:rPr lang="en-US" altLang="zh-CN" sz="28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.</a:t>
            </a:r>
          </a:p>
        </p:txBody>
      </p:sp>
      <p:sp>
        <p:nvSpPr>
          <p:cNvPr id="5" name="TextBox 28">
            <a:extLst>
              <a:ext uri="{FF2B5EF4-FFF2-40B4-BE49-F238E27FC236}">
                <a16:creationId xmlns:a16="http://schemas.microsoft.com/office/drawing/2014/main" id="{089B31DC-076B-109C-45B0-4B0E6B9535D1}"/>
              </a:ext>
            </a:extLst>
          </p:cNvPr>
          <p:cNvSpPr txBox="1"/>
          <p:nvPr/>
        </p:nvSpPr>
        <p:spPr>
          <a:xfrm>
            <a:off x="1456043" y="1951299"/>
            <a:ext cx="8028000" cy="4855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457200" indent="-4572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altLang="zh-CN" sz="24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It is necessary to talk big.</a:t>
            </a:r>
          </a:p>
        </p:txBody>
      </p:sp>
    </p:spTree>
    <p:extLst>
      <p:ext uri="{BB962C8B-B14F-4D97-AF65-F5344CB8AC3E}">
        <p14:creationId xmlns:p14="http://schemas.microsoft.com/office/powerpoint/2010/main" val="2614420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8">
            <a:extLst>
              <a:ext uri="{FF2B5EF4-FFF2-40B4-BE49-F238E27FC236}">
                <a16:creationId xmlns:a16="http://schemas.microsoft.com/office/drawing/2014/main" id="{7EFD28B5-CFF6-090C-8356-F1315F5F77C5}"/>
              </a:ext>
            </a:extLst>
          </p:cNvPr>
          <p:cNvSpPr txBox="1"/>
          <p:nvPr/>
        </p:nvSpPr>
        <p:spPr>
          <a:xfrm>
            <a:off x="684000" y="168190"/>
            <a:ext cx="4320000" cy="6036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6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PRESENTATION</a:t>
            </a:r>
          </a:p>
        </p:txBody>
      </p:sp>
      <p:sp>
        <p:nvSpPr>
          <p:cNvPr id="4" name="TextBox 28">
            <a:extLst>
              <a:ext uri="{FF2B5EF4-FFF2-40B4-BE49-F238E27FC236}">
                <a16:creationId xmlns:a16="http://schemas.microsoft.com/office/drawing/2014/main" id="{C5DF8124-0CA9-3E8B-79A1-35B8A4ED9AB5}"/>
              </a:ext>
            </a:extLst>
          </p:cNvPr>
          <p:cNvSpPr txBox="1"/>
          <p:nvPr/>
        </p:nvSpPr>
        <p:spPr>
          <a:xfrm>
            <a:off x="760766" y="1348299"/>
            <a:ext cx="7632000" cy="37058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342900" indent="-3429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rgbClr val="FF0000"/>
                </a:solidFill>
                <a:highlight>
                  <a:srgbClr val="FFFF00"/>
                </a:highlight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NO LONG PARAGRAPHS</a:t>
            </a:r>
            <a:r>
              <a:rPr lang="en-US" altLang="zh-CN" sz="28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!</a:t>
            </a:r>
          </a:p>
          <a:p>
            <a:pPr marL="342900" indent="-3429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altLang="zh-CN" sz="2400" b="1" dirty="0">
              <a:solidFill>
                <a:schemeClr val="tx1"/>
              </a:solidFill>
              <a:latin typeface="+mn-lt"/>
              <a:ea typeface="微软雅黑"/>
              <a:cs typeface="Times New Roman" panose="02020603050405020304" pitchFamily="18" charset="0"/>
              <a:sym typeface="+mn-lt"/>
            </a:endParaRPr>
          </a:p>
          <a:p>
            <a:pPr marL="342900" indent="-3429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Lists are useful to remind yourself.</a:t>
            </a:r>
          </a:p>
          <a:p>
            <a:pPr marL="342900" indent="-3429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Do NOT be DDL warriors!</a:t>
            </a:r>
          </a:p>
          <a:p>
            <a:pPr marL="342900" indent="-3429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rgbClr val="0070C0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Animations</a:t>
            </a:r>
            <a:r>
              <a:rPr lang="en-US" altLang="zh-CN" sz="28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 are NOT essential.</a:t>
            </a:r>
          </a:p>
          <a:p>
            <a:pPr marL="342900" indent="-3429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rgbClr val="00B050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COLORS</a:t>
            </a:r>
            <a:r>
              <a:rPr lang="en-US" altLang="zh-CN" sz="28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 </a:t>
            </a:r>
            <a:r>
              <a:rPr lang="en-US" altLang="zh-CN" sz="2800" b="1" dirty="0">
                <a:solidFill>
                  <a:srgbClr val="FFC000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MAYBE</a:t>
            </a:r>
            <a:r>
              <a:rPr lang="en-US" altLang="zh-CN" sz="28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 </a:t>
            </a:r>
            <a:r>
              <a:rPr lang="en-US" altLang="zh-CN" sz="2800" b="1" dirty="0">
                <a:solidFill>
                  <a:srgbClr val="7030A0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USEFUL.</a:t>
            </a:r>
          </a:p>
        </p:txBody>
      </p:sp>
      <p:sp>
        <p:nvSpPr>
          <p:cNvPr id="5" name="TextBox 28">
            <a:extLst>
              <a:ext uri="{FF2B5EF4-FFF2-40B4-BE49-F238E27FC236}">
                <a16:creationId xmlns:a16="http://schemas.microsoft.com/office/drawing/2014/main" id="{089B31DC-076B-109C-45B0-4B0E6B9535D1}"/>
              </a:ext>
            </a:extLst>
          </p:cNvPr>
          <p:cNvSpPr txBox="1"/>
          <p:nvPr/>
        </p:nvSpPr>
        <p:spPr>
          <a:xfrm>
            <a:off x="1456043" y="1951299"/>
            <a:ext cx="8028000" cy="4855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457200" indent="-4572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altLang="zh-CN" sz="24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It is EXETREMELY boring to read.</a:t>
            </a:r>
          </a:p>
        </p:txBody>
      </p:sp>
    </p:spTree>
    <p:extLst>
      <p:ext uri="{BB962C8B-B14F-4D97-AF65-F5344CB8AC3E}">
        <p14:creationId xmlns:p14="http://schemas.microsoft.com/office/powerpoint/2010/main" val="3241385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8">
            <a:extLst>
              <a:ext uri="{FF2B5EF4-FFF2-40B4-BE49-F238E27FC236}">
                <a16:creationId xmlns:a16="http://schemas.microsoft.com/office/drawing/2014/main" id="{7EFD28B5-CFF6-090C-8356-F1315F5F77C5}"/>
              </a:ext>
            </a:extLst>
          </p:cNvPr>
          <p:cNvSpPr txBox="1"/>
          <p:nvPr/>
        </p:nvSpPr>
        <p:spPr>
          <a:xfrm>
            <a:off x="684000" y="168190"/>
            <a:ext cx="4320000" cy="6036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6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ESSAY</a:t>
            </a:r>
          </a:p>
        </p:txBody>
      </p:sp>
      <p:sp>
        <p:nvSpPr>
          <p:cNvPr id="4" name="TextBox 28">
            <a:extLst>
              <a:ext uri="{FF2B5EF4-FFF2-40B4-BE49-F238E27FC236}">
                <a16:creationId xmlns:a16="http://schemas.microsoft.com/office/drawing/2014/main" id="{C5DF8124-0CA9-3E8B-79A1-35B8A4ED9AB5}"/>
              </a:ext>
            </a:extLst>
          </p:cNvPr>
          <p:cNvSpPr txBox="1"/>
          <p:nvPr/>
        </p:nvSpPr>
        <p:spPr>
          <a:xfrm>
            <a:off x="760766" y="1348299"/>
            <a:ext cx="7632000" cy="12128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342900" indent="-3429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tx1"/>
                </a:solidFill>
                <a:ea typeface="微软雅黑"/>
                <a:cs typeface="Times New Roman" panose="02020603050405020304" pitchFamily="18" charset="0"/>
                <a:sym typeface="+mn-lt"/>
              </a:rPr>
              <a:t>Formulae must be </a:t>
            </a:r>
            <a:r>
              <a:rPr lang="en-US" altLang="zh-CN" sz="2800" b="1" dirty="0">
                <a:solidFill>
                  <a:srgbClr val="9A0D14"/>
                </a:solidFill>
                <a:ea typeface="微软雅黑"/>
                <a:cs typeface="Times New Roman" panose="02020603050405020304" pitchFamily="18" charset="0"/>
                <a:sym typeface="+mn-lt"/>
              </a:rPr>
              <a:t>correct</a:t>
            </a:r>
            <a:r>
              <a:rPr lang="en-US" altLang="zh-CN" sz="2800" b="1" dirty="0">
                <a:solidFill>
                  <a:schemeClr val="tx1"/>
                </a:solidFill>
                <a:ea typeface="微软雅黑"/>
                <a:cs typeface="Times New Roman" panose="02020603050405020304" pitchFamily="18" charset="0"/>
                <a:sym typeface="+mn-lt"/>
              </a:rPr>
              <a:t>.</a:t>
            </a:r>
          </a:p>
          <a:p>
            <a:pPr marL="342900" indent="-3429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rgbClr val="9A0D14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Multiple</a:t>
            </a:r>
            <a:r>
              <a:rPr lang="en-US" altLang="zh-CN" sz="28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 teachers can assist.</a:t>
            </a:r>
          </a:p>
        </p:txBody>
      </p:sp>
      <p:sp>
        <p:nvSpPr>
          <p:cNvPr id="2" name="TextBox 28">
            <a:extLst>
              <a:ext uri="{FF2B5EF4-FFF2-40B4-BE49-F238E27FC236}">
                <a16:creationId xmlns:a16="http://schemas.microsoft.com/office/drawing/2014/main" id="{07EB3275-7A15-DE4C-6436-53F532CFB739}"/>
              </a:ext>
            </a:extLst>
          </p:cNvPr>
          <p:cNvSpPr txBox="1"/>
          <p:nvPr/>
        </p:nvSpPr>
        <p:spPr>
          <a:xfrm>
            <a:off x="1404000" y="2787881"/>
            <a:ext cx="8028000" cy="4855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457200" indent="-4572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altLang="zh-CN" sz="24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Tutor (Dr. Hou) confirmed paragraph subjects.</a:t>
            </a:r>
          </a:p>
        </p:txBody>
      </p:sp>
      <p:sp>
        <p:nvSpPr>
          <p:cNvPr id="6" name="TextBox 28">
            <a:extLst>
              <a:ext uri="{FF2B5EF4-FFF2-40B4-BE49-F238E27FC236}">
                <a16:creationId xmlns:a16="http://schemas.microsoft.com/office/drawing/2014/main" id="{BC4BB011-EF20-7863-7A48-FCBC07B0EFDE}"/>
              </a:ext>
            </a:extLst>
          </p:cNvPr>
          <p:cNvSpPr txBox="1"/>
          <p:nvPr/>
        </p:nvSpPr>
        <p:spPr>
          <a:xfrm>
            <a:off x="1404000" y="3349842"/>
            <a:ext cx="8028000" cy="10395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457200" indent="-4572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altLang="zh-CN" sz="24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Dr. Gao corrected text style mistakes.</a:t>
            </a:r>
          </a:p>
          <a:p>
            <a:pPr marL="457200" indent="-4572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altLang="zh-CN" sz="24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Had better </a:t>
            </a:r>
            <a:r>
              <a:rPr lang="en-US" altLang="zh-CN" sz="2400" b="1" dirty="0">
                <a:solidFill>
                  <a:srgbClr val="9A0D14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self-derived </a:t>
            </a:r>
            <a:r>
              <a:rPr lang="en-US" altLang="zh-CN" sz="24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every formulae in essay.</a:t>
            </a:r>
          </a:p>
        </p:txBody>
      </p:sp>
    </p:spTree>
    <p:extLst>
      <p:ext uri="{BB962C8B-B14F-4D97-AF65-F5344CB8AC3E}">
        <p14:creationId xmlns:p14="http://schemas.microsoft.com/office/powerpoint/2010/main" val="3231235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2" grpId="0"/>
      <p:bldP spid="6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8">
            <a:extLst>
              <a:ext uri="{FF2B5EF4-FFF2-40B4-BE49-F238E27FC236}">
                <a16:creationId xmlns:a16="http://schemas.microsoft.com/office/drawing/2014/main" id="{7EFD28B5-CFF6-090C-8356-F1315F5F77C5}"/>
              </a:ext>
            </a:extLst>
          </p:cNvPr>
          <p:cNvSpPr txBox="1"/>
          <p:nvPr/>
        </p:nvSpPr>
        <p:spPr>
          <a:xfrm>
            <a:off x="684000" y="168190"/>
            <a:ext cx="4320000" cy="6036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6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ATT.</a:t>
            </a:r>
          </a:p>
        </p:txBody>
      </p:sp>
      <p:sp>
        <p:nvSpPr>
          <p:cNvPr id="4" name="TextBox 28">
            <a:extLst>
              <a:ext uri="{FF2B5EF4-FFF2-40B4-BE49-F238E27FC236}">
                <a16:creationId xmlns:a16="http://schemas.microsoft.com/office/drawing/2014/main" id="{C5DF8124-0CA9-3E8B-79A1-35B8A4ED9AB5}"/>
              </a:ext>
            </a:extLst>
          </p:cNvPr>
          <p:cNvSpPr txBox="1"/>
          <p:nvPr/>
        </p:nvSpPr>
        <p:spPr>
          <a:xfrm>
            <a:off x="760766" y="1348299"/>
            <a:ext cx="8131234" cy="25054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342900" indent="-3429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rgbClr val="00B0F0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Beautiful typography </a:t>
            </a:r>
            <a:r>
              <a:rPr lang="en-US" altLang="zh-CN" sz="28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could be useful.</a:t>
            </a:r>
          </a:p>
          <a:p>
            <a:pPr marL="342900" indent="-3429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Connect with tutors as much as possible.</a:t>
            </a:r>
          </a:p>
          <a:p>
            <a:pPr marL="342900" indent="-3429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Cry out any obstacles in reflections.</a:t>
            </a:r>
          </a:p>
          <a:p>
            <a:pPr marL="342900" indent="-3429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Be thankful and grateful. :D</a:t>
            </a:r>
          </a:p>
        </p:txBody>
      </p:sp>
    </p:spTree>
    <p:extLst>
      <p:ext uri="{BB962C8B-B14F-4D97-AF65-F5344CB8AC3E}">
        <p14:creationId xmlns:p14="http://schemas.microsoft.com/office/powerpoint/2010/main" val="1585336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755968" y="2139881"/>
            <a:ext cx="7772400" cy="1021735"/>
          </a:xfrm>
        </p:spPr>
        <p:txBody>
          <a:bodyPr>
            <a:spAutoFit/>
          </a:bodyPr>
          <a:lstStyle/>
          <a:p>
            <a:pPr algn="l" eaLnBrk="1" latinLnBrk="0" hangingPunct="1">
              <a:lnSpc>
                <a:spcPct val="100000"/>
              </a:lnSpc>
            </a:pPr>
            <a:r>
              <a:rPr lang="en-US" altLang="zh-CN" sz="4400" b="1" dirty="0">
                <a:solidFill>
                  <a:schemeClr val="bg1"/>
                </a:solidFill>
                <a:latin typeface="+mn-lt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Thank you for your listening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微软雅黑"/>
        <a:cs typeface="宋体"/>
      </a:majorFont>
      <a:minorFont>
        <a:latin typeface="Arial"/>
        <a:ea typeface="微软雅黑"/>
        <a:cs typeface="宋体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wrap="square">
        <a:spAutoFit/>
      </a:bodyPr>
      <a:lstStyle>
        <a:defPPr algn="l">
          <a:lnSpc>
            <a:spcPct val="120000"/>
          </a:lnSpc>
          <a:buClr>
            <a:srgbClr val="C00000"/>
          </a:buClr>
          <a:defRPr sz="2000" dirty="0"/>
        </a:defPPr>
      </a:lstStyle>
    </a:tx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1960</TotalTime>
  <Words>254</Words>
  <Application>Microsoft Office PowerPoint</Application>
  <PresentationFormat>自定义</PresentationFormat>
  <Paragraphs>54</Paragraphs>
  <Slides>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微软雅黑</vt:lpstr>
      <vt:lpstr>Arial</vt:lpstr>
      <vt:lpstr>Calibri</vt:lpstr>
      <vt:lpstr>Wingdings</vt:lpstr>
      <vt:lpstr>默认设计模板</vt:lpstr>
      <vt:lpstr>Comparation of Two Models to Calculate the Period of Compound Pendulum with Liquid Damping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 you for your listening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ST JT</cp:lastModifiedBy>
  <cp:revision>675</cp:revision>
  <cp:lastPrinted>2113-01-01T00:00:00Z</cp:lastPrinted>
  <dcterms:created xsi:type="dcterms:W3CDTF">2015-03-13T08:02:00Z</dcterms:created>
  <dcterms:modified xsi:type="dcterms:W3CDTF">2024-10-16T09:44:30Z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KSOProductBuildVer">
    <vt:lpwstr>2052-11.1.0.10463</vt:lpwstr>
  </property>
  <property fmtid="{D5CDD505-2E9C-101B-9397-08002B2CF9AE}" pid="4" name="ICV">
    <vt:lpwstr>478EF44DC9C741E780E5CA3644556A3A</vt:lpwstr>
  </property>
</Properties>
</file>